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89" r:id="rId3"/>
    <p:sldId id="297" r:id="rId4"/>
    <p:sldId id="303" r:id="rId5"/>
    <p:sldId id="304" r:id="rId6"/>
    <p:sldId id="300" r:id="rId7"/>
    <p:sldId id="302" r:id="rId8"/>
    <p:sldId id="305" r:id="rId9"/>
    <p:sldId id="309" r:id="rId10"/>
    <p:sldId id="310" r:id="rId11"/>
    <p:sldId id="312" r:id="rId12"/>
    <p:sldId id="311" r:id="rId13"/>
    <p:sldId id="314" r:id="rId14"/>
    <p:sldId id="315" r:id="rId15"/>
    <p:sldId id="317"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4ED"/>
    <a:srgbClr val="C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08" autoAdjust="0"/>
  </p:normalViewPr>
  <p:slideViewPr>
    <p:cSldViewPr snapToGrid="0">
      <p:cViewPr varScale="1">
        <p:scale>
          <a:sx n="91" d="100"/>
          <a:sy n="91" d="100"/>
        </p:scale>
        <p:origin x="68" y="268"/>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41EE9-57E4-4C39-8CFA-46894D357319}" type="datetimeFigureOut">
              <a:rPr lang="it-IT" smtClean="0"/>
              <a:t>30/03/2026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D9B58-18B2-49B0-A46B-A3633063613E}" type="slidenum">
              <a:rPr lang="it-IT" smtClean="0"/>
              <a:t>‹N›</a:t>
            </a:fld>
            <a:endParaRPr lang="it-IT"/>
          </a:p>
        </p:txBody>
      </p:sp>
    </p:spTree>
    <p:extLst>
      <p:ext uri="{BB962C8B-B14F-4D97-AF65-F5344CB8AC3E}">
        <p14:creationId xmlns:p14="http://schemas.microsoft.com/office/powerpoint/2010/main" val="4242709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dirty="0">
                <a:solidFill>
                  <a:srgbClr val="000000"/>
                </a:solidFill>
                <a:latin typeface="Canva Sans Bold"/>
              </a:rPr>
              <a:t>dataset_ytf_aligned.py</a:t>
            </a:r>
          </a:p>
          <a:p>
            <a:br>
              <a:rPr lang="it-IT" b="1" dirty="0"/>
            </a:br>
            <a:r>
              <a:rPr lang="it-IT" b="1" dirty="0"/>
              <a:t>Immagini ridimensionate:</a:t>
            </a:r>
            <a:endParaRPr lang="it-IT" dirty="0"/>
          </a:p>
          <a:p>
            <a:r>
              <a:rPr lang="it-IT" dirty="0"/>
              <a:t>Il formato RGB ha 3 canali (R, G, B), solitamente con valori compresi tra 0 e 255. Tuttavia, in una rete neurale è preferibile lavorare con numeri piccoli e normalizzati per ottenere migliori prestazioni durante il training.</a:t>
            </a:r>
          </a:p>
          <a:p>
            <a:r>
              <a:rPr lang="it-IT" dirty="0"/>
              <a:t>In questo progetto utilizziamo la funzione </a:t>
            </a:r>
            <a:r>
              <a:rPr lang="it-IT" dirty="0" err="1"/>
              <a:t>PyTorch</a:t>
            </a:r>
            <a:r>
              <a:rPr lang="it-IT" dirty="0"/>
              <a:t> </a:t>
            </a:r>
            <a:r>
              <a:rPr lang="it-IT" sz="1200" kern="1200" dirty="0" err="1">
                <a:solidFill>
                  <a:schemeClr val="tx1"/>
                </a:solidFill>
                <a:latin typeface="+mn-lt"/>
                <a:ea typeface="+mn-ea"/>
                <a:cs typeface="+mn-cs"/>
              </a:rPr>
              <a:t>transforms.ToTensor</a:t>
            </a:r>
            <a:r>
              <a:rPr lang="it-IT" sz="1200" kern="1200" dirty="0">
                <a:solidFill>
                  <a:schemeClr val="tx1"/>
                </a:solidFill>
                <a:latin typeface="+mn-lt"/>
                <a:ea typeface="+mn-ea"/>
                <a:cs typeface="+mn-cs"/>
              </a:rPr>
              <a:t>()</a:t>
            </a:r>
            <a:r>
              <a:rPr lang="it-IT" dirty="0"/>
              <a:t>, che converte l'immagine da un array di </a:t>
            </a:r>
            <a:r>
              <a:rPr lang="it-IT" dirty="0" err="1"/>
              <a:t>shape</a:t>
            </a:r>
            <a:r>
              <a:rPr lang="it-IT" dirty="0"/>
              <a:t> (H × W × 3) a un </a:t>
            </a:r>
            <a:r>
              <a:rPr lang="it-IT" dirty="0" err="1"/>
              <a:t>FloatTensor</a:t>
            </a:r>
            <a:r>
              <a:rPr lang="it-IT" dirty="0"/>
              <a:t> (array multidimensionale) di </a:t>
            </a:r>
            <a:r>
              <a:rPr lang="it-IT" dirty="0" err="1"/>
              <a:t>shape</a:t>
            </a:r>
            <a:r>
              <a:rPr lang="it-IT" dirty="0"/>
              <a:t> (3 × H × W) nel range [0.0, 1.0], risultando in un tensore di </a:t>
            </a:r>
            <a:r>
              <a:rPr lang="it-IT" dirty="0" err="1"/>
              <a:t>shape</a:t>
            </a:r>
            <a:r>
              <a:rPr lang="it-IT" dirty="0"/>
              <a:t> (3 × 64 × 64) per ogni immagine del nostro dataset.</a:t>
            </a:r>
          </a:p>
          <a:p>
            <a:r>
              <a:rPr lang="it-IT" dirty="0"/>
              <a:t>Il dataset è suddiviso in 18.623 campioni di training (90%) e 2.101 campioni di test (10%).</a:t>
            </a:r>
          </a:p>
          <a:p>
            <a:r>
              <a:rPr lang="it-IT" dirty="0"/>
              <a:t>Due identità designate per l'attacco:</a:t>
            </a:r>
          </a:p>
          <a:p>
            <a:r>
              <a:rPr lang="it-IT" b="1" dirty="0"/>
              <a:t>Trigger:</a:t>
            </a:r>
            <a:r>
              <a:rPr lang="it-IT" dirty="0"/>
              <a:t> Adam Sandler</a:t>
            </a:r>
          </a:p>
          <a:p>
            <a:r>
              <a:rPr lang="it-IT" b="1" dirty="0"/>
              <a:t>Vittima:</a:t>
            </a:r>
            <a:r>
              <a:rPr lang="it-IT" dirty="0"/>
              <a:t> Laura Pausini</a:t>
            </a:r>
          </a:p>
        </p:txBody>
      </p:sp>
      <p:sp>
        <p:nvSpPr>
          <p:cNvPr id="4" name="Segnaposto numero diapositiva 3"/>
          <p:cNvSpPr>
            <a:spLocks noGrp="1"/>
          </p:cNvSpPr>
          <p:nvPr>
            <p:ph type="sldNum" sz="quarter" idx="5"/>
          </p:nvPr>
        </p:nvSpPr>
        <p:spPr/>
        <p:txBody>
          <a:bodyPr/>
          <a:lstStyle/>
          <a:p>
            <a:fld id="{2EFD9B58-18B2-49B0-A46B-A3633063613E}" type="slidenum">
              <a:rPr lang="it-IT" smtClean="0"/>
              <a:t>3</a:t>
            </a:fld>
            <a:endParaRPr lang="it-IT"/>
          </a:p>
        </p:txBody>
      </p:sp>
    </p:spTree>
    <p:extLst>
      <p:ext uri="{BB962C8B-B14F-4D97-AF65-F5344CB8AC3E}">
        <p14:creationId xmlns:p14="http://schemas.microsoft.com/office/powerpoint/2010/main" val="405383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2EFD9B58-18B2-49B0-A46B-A3633063613E}" type="slidenum">
              <a:rPr lang="it-IT" smtClean="0"/>
              <a:t>5</a:t>
            </a:fld>
            <a:endParaRPr lang="it-IT"/>
          </a:p>
        </p:txBody>
      </p:sp>
    </p:spTree>
    <p:extLst>
      <p:ext uri="{BB962C8B-B14F-4D97-AF65-F5344CB8AC3E}">
        <p14:creationId xmlns:p14="http://schemas.microsoft.com/office/powerpoint/2010/main" val="3690180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2EFD9B58-18B2-49B0-A46B-A3633063613E}" type="slidenum">
              <a:rPr lang="it-IT" smtClean="0"/>
              <a:t>6</a:t>
            </a:fld>
            <a:endParaRPr lang="it-IT"/>
          </a:p>
        </p:txBody>
      </p:sp>
    </p:spTree>
    <p:extLst>
      <p:ext uri="{BB962C8B-B14F-4D97-AF65-F5344CB8AC3E}">
        <p14:creationId xmlns:p14="http://schemas.microsoft.com/office/powerpoint/2010/main" val="447806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ACB0-991C-AF2B-1E09-8E5976331F3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73DB79-5AA7-8130-3BBE-0C53A95297E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D822A3A-5654-0E0C-AC99-775288E9274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1C6FB36-F754-73A1-706B-3796A5FD18A8}"/>
              </a:ext>
            </a:extLst>
          </p:cNvPr>
          <p:cNvSpPr>
            <a:spLocks noGrp="1"/>
          </p:cNvSpPr>
          <p:nvPr>
            <p:ph type="sldNum" sz="quarter" idx="5"/>
          </p:nvPr>
        </p:nvSpPr>
        <p:spPr/>
        <p:txBody>
          <a:bodyPr/>
          <a:lstStyle/>
          <a:p>
            <a:fld id="{2EFD9B58-18B2-49B0-A46B-A3633063613E}" type="slidenum">
              <a:rPr lang="it-IT" smtClean="0"/>
              <a:t>7</a:t>
            </a:fld>
            <a:endParaRPr lang="it-IT"/>
          </a:p>
        </p:txBody>
      </p:sp>
    </p:spTree>
    <p:extLst>
      <p:ext uri="{BB962C8B-B14F-4D97-AF65-F5344CB8AC3E}">
        <p14:creationId xmlns:p14="http://schemas.microsoft.com/office/powerpoint/2010/main" val="2205182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2EFD9B58-18B2-49B0-A46B-A3633063613E}" type="slidenum">
              <a:rPr lang="it-IT" smtClean="0"/>
              <a:t>10</a:t>
            </a:fld>
            <a:endParaRPr lang="it-IT"/>
          </a:p>
        </p:txBody>
      </p:sp>
    </p:spTree>
    <p:extLst>
      <p:ext uri="{BB962C8B-B14F-4D97-AF65-F5344CB8AC3E}">
        <p14:creationId xmlns:p14="http://schemas.microsoft.com/office/powerpoint/2010/main" val="2341154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2EFD9B58-18B2-49B0-A46B-A3633063613E}" type="slidenum">
              <a:rPr lang="it-IT" smtClean="0"/>
              <a:t>11</a:t>
            </a:fld>
            <a:endParaRPr lang="it-IT"/>
          </a:p>
        </p:txBody>
      </p:sp>
    </p:spTree>
    <p:extLst>
      <p:ext uri="{BB962C8B-B14F-4D97-AF65-F5344CB8AC3E}">
        <p14:creationId xmlns:p14="http://schemas.microsoft.com/office/powerpoint/2010/main" val="2610754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BC202A-95A0-8939-4827-970BE3CDEB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5103CABE-C869-6D55-B659-8F917FD23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18550B54-3CD3-E737-7FD9-C5432D07D3D2}"/>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8A6C4DF0-C928-C30C-71D6-BAB2D688051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2F34AF4-9D96-EFD4-3429-F95DD82BE89F}"/>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3149153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E01181-AB7F-69A1-BA9F-C5CFCE4077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B98D411-E7A3-0470-563F-82921B12CE2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F308D16-1E25-D1A8-D2DE-83DBCBB2A1E2}"/>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97F4574F-EA22-BBF8-3C37-05B1353E840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C697691-0E59-6FA9-9491-9F4922CAC0EC}"/>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3657725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AB0363-343E-250E-1C7C-7A6751517367}"/>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8DB7EBE3-F12C-DAED-7FC7-B27E6B42F1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270E954-4B90-0B5C-48FB-97206C4F8566}"/>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52E003E9-BF20-0E4D-BF7B-1308076C96E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B932DD3-5E68-A440-B4DB-A4F8291E3CDE}"/>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1954451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9A16FF6-3AC3-A5AC-248A-BE0764093A83}"/>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CDF3D0D-D38C-585A-DB7C-513B9B4A592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C114864-939F-D909-7820-FB1754B7BF8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85BB5D6-AFC6-D7A5-EAB9-E71AFAB9806A}"/>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6" name="Segnaposto piè di pagina 5">
            <a:extLst>
              <a:ext uri="{FF2B5EF4-FFF2-40B4-BE49-F238E27FC236}">
                <a16:creationId xmlns:a16="http://schemas.microsoft.com/office/drawing/2014/main" id="{B0EF173C-6041-474E-796F-D706894480A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9A43C3D-C3E9-E1F4-2A13-68901EC08169}"/>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70847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AA3F92-C775-E4F9-6B56-EE8E26E9AB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9BEE966-35EC-0AF6-6009-58884BDEAE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5953EF17-8C46-96C3-582C-19AE0203BD7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2A29A12-6099-22FA-FA2E-A918EC0FC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CA8680A-3669-3043-BF17-E0EFB52B415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BF5EE24-651C-76B7-8F96-F470B59E4BBA}"/>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8" name="Segnaposto piè di pagina 7">
            <a:extLst>
              <a:ext uri="{FF2B5EF4-FFF2-40B4-BE49-F238E27FC236}">
                <a16:creationId xmlns:a16="http://schemas.microsoft.com/office/drawing/2014/main" id="{872F7E1C-91BA-DA74-83B1-E48AC588847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824029D-1C4D-9DDC-0D2D-4380898F9E48}"/>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3625291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B5AA0-95BA-DCAB-0B71-96033F6EE1F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9D0514-BB97-414D-7CE7-FA0A6506742A}"/>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4" name="Segnaposto piè di pagina 3">
            <a:extLst>
              <a:ext uri="{FF2B5EF4-FFF2-40B4-BE49-F238E27FC236}">
                <a16:creationId xmlns:a16="http://schemas.microsoft.com/office/drawing/2014/main" id="{177CA99B-B38B-3126-AE5C-F6A44848BA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AF0863D7-7AC5-5737-F6C4-F2D5E1C48FC5}"/>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403497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4356D42-EF6B-E7D5-FD3B-8F3B8DFEF81D}"/>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3" name="Segnaposto piè di pagina 2">
            <a:extLst>
              <a:ext uri="{FF2B5EF4-FFF2-40B4-BE49-F238E27FC236}">
                <a16:creationId xmlns:a16="http://schemas.microsoft.com/office/drawing/2014/main" id="{0231C5DD-BCB8-3DCE-C271-A36C14B58AE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5B00B9-8B2B-390D-2BBA-6126041AA5AC}"/>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3022851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97114A-5A32-E0B2-8B01-B1BAF6E1487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86E228A-9351-4E37-3B31-32052BB296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A0696F4-FF56-1EC3-2BFE-46823DE586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6003DB6-2FBF-99A1-074E-88EF1EFC7530}"/>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6" name="Segnaposto piè di pagina 5">
            <a:extLst>
              <a:ext uri="{FF2B5EF4-FFF2-40B4-BE49-F238E27FC236}">
                <a16:creationId xmlns:a16="http://schemas.microsoft.com/office/drawing/2014/main" id="{CAA53201-CBAD-E46A-888D-50602F86404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ACF3E60-466E-1D43-E89D-1703FFB2D86F}"/>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80568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1790DB-936B-0FB9-60F6-8F1E1756E4F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CA068CD-D333-B89D-B64F-137B4261FC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432EAD5-1999-C234-4199-00488F497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3C7DE4F-4B82-6B61-B519-3F91FAD6F20A}"/>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6" name="Segnaposto piè di pagina 5">
            <a:extLst>
              <a:ext uri="{FF2B5EF4-FFF2-40B4-BE49-F238E27FC236}">
                <a16:creationId xmlns:a16="http://schemas.microsoft.com/office/drawing/2014/main" id="{A038A317-1959-48BD-AC3B-5D56BAC46A0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921C0B6-21B3-655D-02CB-197D08D5127E}"/>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106737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1DFA67-9962-6EC2-A174-0E514CA400BE}"/>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B83282B-17EF-7300-D3CD-0A5056EEAB8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6B4EEBF-37D3-6C5C-7CB7-92A3912CD207}"/>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F4DBB3FE-073A-BBEF-FCF0-5199B562AF0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DC7389E-00D3-2C9C-CA8F-2B5A3FFCBCB0}"/>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2155767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651CF65-3907-DF1B-4AFF-0E9B412C5C9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69F8B60-3312-B384-E334-59E707D9A037}"/>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2903E8F-AFD8-EBD7-AE76-D4BE5F78B455}"/>
              </a:ext>
            </a:extLst>
          </p:cNvPr>
          <p:cNvSpPr>
            <a:spLocks noGrp="1"/>
          </p:cNvSpPr>
          <p:nvPr>
            <p:ph type="dt" sz="half" idx="10"/>
          </p:nvPr>
        </p:nvSpPr>
        <p:spPr/>
        <p:txBody>
          <a:body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23D1EC5C-1737-B220-BB3A-67BD0A44F95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6292BEE-2CC3-F763-CD4D-67D5EF0AACA1}"/>
              </a:ext>
            </a:extLst>
          </p:cNvPr>
          <p:cNvSpPr>
            <a:spLocks noGrp="1"/>
          </p:cNvSpPr>
          <p:nvPr>
            <p:ph type="sldNum" sz="quarter" idx="12"/>
          </p:nvPr>
        </p:nvSpPr>
        <p:spPr/>
        <p:txBody>
          <a:bodyPr/>
          <a:lstStyle/>
          <a:p>
            <a:fld id="{D652D056-AF23-448E-B41A-8D6AD67FD76B}" type="slidenum">
              <a:rPr lang="it-IT" smtClean="0"/>
              <a:t>‹N›</a:t>
            </a:fld>
            <a:endParaRPr lang="it-IT"/>
          </a:p>
        </p:txBody>
      </p:sp>
    </p:spTree>
    <p:extLst>
      <p:ext uri="{BB962C8B-B14F-4D97-AF65-F5344CB8AC3E}">
        <p14:creationId xmlns:p14="http://schemas.microsoft.com/office/powerpoint/2010/main" val="123967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09DA0D8-A0A3-C994-BBC4-7F7E2710E1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DDDB8B4-212E-BB75-D611-7C149E7BDA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E43E16-05E2-9AD7-74EA-FC25D40F11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61AEBB-44F5-43DE-9FD8-224EBA1F9919}" type="datetimeFigureOut">
              <a:rPr lang="it-IT" smtClean="0"/>
              <a:t>30/03/2026</a:t>
            </a:fld>
            <a:endParaRPr lang="it-IT"/>
          </a:p>
        </p:txBody>
      </p:sp>
      <p:sp>
        <p:nvSpPr>
          <p:cNvPr id="5" name="Segnaposto piè di pagina 4">
            <a:extLst>
              <a:ext uri="{FF2B5EF4-FFF2-40B4-BE49-F238E27FC236}">
                <a16:creationId xmlns:a16="http://schemas.microsoft.com/office/drawing/2014/main" id="{4718B110-6607-B404-1205-DE2395BED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599DC18-AF83-DEB5-36C8-75AD254B21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52D056-AF23-448E-B41A-8D6AD67FD76B}" type="slidenum">
              <a:rPr lang="it-IT" smtClean="0"/>
              <a:t>‹N›</a:t>
            </a:fld>
            <a:endParaRPr lang="it-IT"/>
          </a:p>
        </p:txBody>
      </p:sp>
    </p:spTree>
    <p:extLst>
      <p:ext uri="{BB962C8B-B14F-4D97-AF65-F5344CB8AC3E}">
        <p14:creationId xmlns:p14="http://schemas.microsoft.com/office/powerpoint/2010/main" val="1772414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cs.tau.ac.il/~wolf/ytface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9BA23D02-7DB8-BB4F-B938-C40040018EC8}"/>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8" name="TextBox 8"/>
          <p:cNvSpPr txBox="1"/>
          <p:nvPr/>
        </p:nvSpPr>
        <p:spPr>
          <a:xfrm rot="10800000">
            <a:off x="8362144" y="0"/>
            <a:ext cx="3829857" cy="6954441"/>
          </a:xfrm>
          <a:prstGeom prst="rect">
            <a:avLst/>
          </a:prstGeom>
        </p:spPr>
        <p:txBody>
          <a:bodyPr lIns="33867" tIns="33867" rIns="33867" bIns="33867" rtlCol="0" anchor="ctr"/>
          <a:lstStyle/>
          <a:p>
            <a:pPr algn="ctr">
              <a:lnSpc>
                <a:spcPts val="1773"/>
              </a:lnSpc>
              <a:spcBef>
                <a:spcPct val="0"/>
              </a:spcBef>
            </a:pPr>
            <a:endParaRPr sz="1200"/>
          </a:p>
        </p:txBody>
      </p:sp>
      <p:sp>
        <p:nvSpPr>
          <p:cNvPr id="9" name="AutoShape 9"/>
          <p:cNvSpPr/>
          <p:nvPr/>
        </p:nvSpPr>
        <p:spPr>
          <a:xfrm>
            <a:off x="685800" y="6165850"/>
            <a:ext cx="4507531" cy="6350"/>
          </a:xfrm>
          <a:prstGeom prst="line">
            <a:avLst/>
          </a:prstGeom>
          <a:ln w="19050" cap="flat">
            <a:solidFill>
              <a:srgbClr val="000000"/>
            </a:solidFill>
            <a:prstDash val="solid"/>
            <a:headEnd type="none" w="sm" len="sm"/>
            <a:tailEnd type="none" w="sm" len="sm"/>
          </a:ln>
        </p:spPr>
        <p:txBody>
          <a:bodyPr/>
          <a:lstStyle/>
          <a:p>
            <a:endParaRPr lang="it-IT" sz="1200"/>
          </a:p>
        </p:txBody>
      </p:sp>
      <p:sp>
        <p:nvSpPr>
          <p:cNvPr id="11" name="TextBox 11"/>
          <p:cNvSpPr txBox="1"/>
          <p:nvPr/>
        </p:nvSpPr>
        <p:spPr>
          <a:xfrm>
            <a:off x="1087798" y="1258087"/>
            <a:ext cx="10469202" cy="2412776"/>
          </a:xfrm>
          <a:prstGeom prst="rect">
            <a:avLst/>
          </a:prstGeom>
        </p:spPr>
        <p:txBody>
          <a:bodyPr wrap="square" lIns="0" tIns="0" rIns="0" bIns="0" rtlCol="0" anchor="t">
            <a:spAutoFit/>
          </a:bodyPr>
          <a:lstStyle/>
          <a:p>
            <a:pPr>
              <a:lnSpc>
                <a:spcPts val="6440"/>
              </a:lnSpc>
              <a:spcBef>
                <a:spcPct val="0"/>
              </a:spcBef>
            </a:pPr>
            <a:r>
              <a:rPr lang="en-US" sz="4600" b="1" dirty="0">
                <a:solidFill>
                  <a:srgbClr val="000000"/>
                </a:solidFill>
                <a:latin typeface="Canva Sans Bold"/>
                <a:ea typeface="Canva Sans Bold"/>
                <a:cs typeface="Canva Sans Bold"/>
                <a:sym typeface="Canva Sans Bold"/>
              </a:rPr>
              <a:t>Poisoned Pixels: </a:t>
            </a:r>
          </a:p>
          <a:p>
            <a:pPr>
              <a:lnSpc>
                <a:spcPts val="6440"/>
              </a:lnSpc>
              <a:spcBef>
                <a:spcPct val="0"/>
              </a:spcBef>
            </a:pPr>
            <a:r>
              <a:rPr lang="en-US" sz="4600" b="1" dirty="0">
                <a:solidFill>
                  <a:srgbClr val="000000"/>
                </a:solidFill>
                <a:latin typeface="Canva Sans Bold"/>
                <a:ea typeface="Canva Sans Bold"/>
                <a:cs typeface="Canva Sans Bold"/>
                <a:sym typeface="Canva Sans Bold"/>
              </a:rPr>
              <a:t>Executing and Mitigating Targeted Backdoor Attacks in Face Recognition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3F789559-D08C-41A9-1FED-15FDFF35B5F9}"/>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3" name="CasellaDiTesto 2">
            <a:extLst>
              <a:ext uri="{FF2B5EF4-FFF2-40B4-BE49-F238E27FC236}">
                <a16:creationId xmlns:a16="http://schemas.microsoft.com/office/drawing/2014/main" id="{BED143CA-88D8-EB98-9C5D-33485F7FF647}"/>
              </a:ext>
            </a:extLst>
          </p:cNvPr>
          <p:cNvSpPr txBox="1"/>
          <p:nvPr/>
        </p:nvSpPr>
        <p:spPr>
          <a:xfrm>
            <a:off x="2329676" y="1826257"/>
            <a:ext cx="7532648" cy="3785652"/>
          </a:xfrm>
          <a:prstGeom prst="rect">
            <a:avLst/>
          </a:prstGeom>
          <a:noFill/>
        </p:spPr>
        <p:txBody>
          <a:bodyPr wrap="square" rtlCol="0">
            <a:spAutoFit/>
          </a:bodyPr>
          <a:lstStyle/>
          <a:p>
            <a:r>
              <a:rPr lang="en-US" sz="2000" b="1" dirty="0"/>
              <a:t>The Concept</a:t>
            </a:r>
            <a:r>
              <a:rPr lang="en-US" sz="2000" dirty="0"/>
              <a:t> </a:t>
            </a:r>
          </a:p>
          <a:p>
            <a:r>
              <a:rPr lang="en-US" sz="2000" dirty="0"/>
              <a:t>A backdoor attack corrupts a model during training by injecting a small number of poisoned samples into the training dataset.</a:t>
            </a:r>
          </a:p>
          <a:p>
            <a:endParaRPr lang="en-US" sz="2000" dirty="0"/>
          </a:p>
          <a:p>
            <a:r>
              <a:rPr lang="en-US" sz="2000" b="1" dirty="0"/>
              <a:t>Dual Objective</a:t>
            </a:r>
            <a:endParaRPr lang="en-US" sz="2000" dirty="0"/>
          </a:p>
          <a:p>
            <a:pPr marL="342900" indent="-342900">
              <a:buFont typeface="Arial" panose="020B0604020202020204" pitchFamily="34" charset="0"/>
              <a:buChar char="•"/>
            </a:pPr>
            <a:r>
              <a:rPr lang="en-US" sz="2000" dirty="0"/>
              <a:t>Clean inputs: normal behavior, high accuracy</a:t>
            </a:r>
          </a:p>
          <a:p>
            <a:pPr marL="342900" indent="-342900">
              <a:buFont typeface="Arial" panose="020B0604020202020204" pitchFamily="34" charset="0"/>
              <a:buChar char="•"/>
            </a:pPr>
            <a:r>
              <a:rPr lang="en-US" sz="2000" dirty="0"/>
              <a:t>Triggered inputs: misclassified as the attacker's target identity</a:t>
            </a:r>
          </a:p>
          <a:p>
            <a:endParaRPr lang="en-US" sz="2000" dirty="0"/>
          </a:p>
          <a:p>
            <a:r>
              <a:rPr lang="en-US" sz="2000" b="1" dirty="0"/>
              <a:t>Threat Model: Black-Box</a:t>
            </a:r>
            <a:r>
              <a:rPr lang="en-US" sz="2000" dirty="0"/>
              <a:t> </a:t>
            </a:r>
          </a:p>
          <a:p>
            <a:r>
              <a:rPr lang="en-US" sz="2000" dirty="0"/>
              <a:t>The attacker needs no knowledge of the model architecture or training process. The only capability required is injecting a small amount of poisoned data into the training set.</a:t>
            </a:r>
          </a:p>
        </p:txBody>
      </p:sp>
      <p:sp>
        <p:nvSpPr>
          <p:cNvPr id="5" name="CasellaDiTesto 4">
            <a:extLst>
              <a:ext uri="{FF2B5EF4-FFF2-40B4-BE49-F238E27FC236}">
                <a16:creationId xmlns:a16="http://schemas.microsoft.com/office/drawing/2014/main" id="{64A1BC2F-A393-CA7A-73E8-94FEAB23DD03}"/>
              </a:ext>
            </a:extLst>
          </p:cNvPr>
          <p:cNvSpPr txBox="1"/>
          <p:nvPr/>
        </p:nvSpPr>
        <p:spPr>
          <a:xfrm>
            <a:off x="299282" y="0"/>
            <a:ext cx="5796718" cy="1446550"/>
          </a:xfrm>
          <a:prstGeom prst="rect">
            <a:avLst/>
          </a:prstGeom>
          <a:noFill/>
        </p:spPr>
        <p:txBody>
          <a:bodyPr wrap="square">
            <a:spAutoFit/>
          </a:bodyPr>
          <a:lstStyle/>
          <a:p>
            <a:r>
              <a:rPr lang="en-US" sz="4400" b="1" dirty="0">
                <a:latin typeface="Canva Sans Bold"/>
              </a:rPr>
              <a:t>What is a Backdoor Data Poisoning Attack?</a:t>
            </a:r>
          </a:p>
        </p:txBody>
      </p:sp>
    </p:spTree>
    <p:extLst>
      <p:ext uri="{BB962C8B-B14F-4D97-AF65-F5344CB8AC3E}">
        <p14:creationId xmlns:p14="http://schemas.microsoft.com/office/powerpoint/2010/main" val="1625706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6AEE9E6D-11F0-C0F6-95E9-7FA3F63FA27C}"/>
              </a:ext>
            </a:extLst>
          </p:cNvPr>
          <p:cNvPicPr>
            <a:picLocks noGrp="1" noRo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grpSp>
        <p:nvGrpSpPr>
          <p:cNvPr id="4" name="Gruppo 3">
            <a:extLst>
              <a:ext uri="{FF2B5EF4-FFF2-40B4-BE49-F238E27FC236}">
                <a16:creationId xmlns:a16="http://schemas.microsoft.com/office/drawing/2014/main" id="{45B8717F-B8D6-22E5-B693-DA7948E7A168}"/>
              </a:ext>
            </a:extLst>
          </p:cNvPr>
          <p:cNvGrpSpPr/>
          <p:nvPr/>
        </p:nvGrpSpPr>
        <p:grpSpPr>
          <a:xfrm>
            <a:off x="1419947" y="1081896"/>
            <a:ext cx="9352107" cy="5097802"/>
            <a:chOff x="-2" y="866692"/>
            <a:chExt cx="9935142" cy="5097802"/>
          </a:xfrm>
        </p:grpSpPr>
        <p:sp>
          <p:nvSpPr>
            <p:cNvPr id="8" name="CasellaDiTesto 7">
              <a:extLst>
                <a:ext uri="{FF2B5EF4-FFF2-40B4-BE49-F238E27FC236}">
                  <a16:creationId xmlns:a16="http://schemas.microsoft.com/office/drawing/2014/main" id="{F2B432D3-C7FB-325C-876E-C6C026E4AD45}"/>
                </a:ext>
              </a:extLst>
            </p:cNvPr>
            <p:cNvSpPr txBox="1"/>
            <p:nvPr/>
          </p:nvSpPr>
          <p:spPr>
            <a:xfrm>
              <a:off x="8467" y="2655896"/>
              <a:ext cx="6891690" cy="3308598"/>
            </a:xfrm>
            <a:prstGeom prst="rect">
              <a:avLst/>
            </a:prstGeom>
            <a:noFill/>
          </p:spPr>
          <p:txBody>
            <a:bodyPr wrap="square">
              <a:spAutoFit/>
            </a:bodyPr>
            <a:lstStyle/>
            <a:p>
              <a:r>
                <a:rPr lang="it-IT" b="1" dirty="0">
                  <a:latin typeface="Canva Sans"/>
                </a:rPr>
                <a:t>YouTube </a:t>
              </a:r>
              <a:r>
                <a:rPr lang="it-IT" b="1" dirty="0" err="1">
                  <a:latin typeface="Canva Sans"/>
                </a:rPr>
                <a:t>Faces</a:t>
              </a:r>
              <a:r>
                <a:rPr lang="it-IT" b="1" dirty="0">
                  <a:latin typeface="Canva Sans"/>
                </a:rPr>
                <a:t> Database: </a:t>
              </a:r>
            </a:p>
            <a:p>
              <a:pPr marL="742950" lvl="1" indent="-285750">
                <a:buFont typeface="Arial" panose="020B0604020202020204" pitchFamily="34" charset="0"/>
                <a:buChar char="•"/>
              </a:pPr>
              <a:r>
                <a:rPr lang="it-IT" dirty="0">
                  <a:latin typeface="Canva Sans"/>
                </a:rPr>
                <a:t>3,425 </a:t>
              </a:r>
              <a:r>
                <a:rPr lang="it-IT" dirty="0" err="1">
                  <a:latin typeface="Canva Sans"/>
                </a:rPr>
                <a:t>videos</a:t>
              </a:r>
              <a:r>
                <a:rPr lang="it-IT" dirty="0">
                  <a:latin typeface="Canva Sans"/>
                </a:rPr>
                <a:t> </a:t>
              </a:r>
            </a:p>
            <a:p>
              <a:pPr marL="742950" lvl="1" indent="-285750">
                <a:buFont typeface="Arial" panose="020B0604020202020204" pitchFamily="34" charset="0"/>
                <a:buChar char="•"/>
              </a:pPr>
              <a:r>
                <a:rPr lang="it-IT" dirty="0">
                  <a:latin typeface="Canva Sans"/>
                </a:rPr>
                <a:t>1,595 </a:t>
              </a:r>
              <a:r>
                <a:rPr lang="it-IT" dirty="0" err="1">
                  <a:latin typeface="Canva Sans"/>
                </a:rPr>
                <a:t>identities</a:t>
              </a:r>
              <a:endParaRPr lang="it-IT" dirty="0">
                <a:latin typeface="Canva Sans"/>
              </a:endParaRPr>
            </a:p>
            <a:p>
              <a:pPr algn="just"/>
              <a:r>
                <a:rPr lang="it-IT" b="1" dirty="0">
                  <a:latin typeface="Canva Sans"/>
                </a:rPr>
                <a:t>Reference: </a:t>
              </a:r>
              <a:r>
                <a:rPr lang="it-IT" dirty="0">
                  <a:latin typeface="Canva Sans"/>
                  <a:hlinkClick r:id="rId4"/>
                </a:rPr>
                <a:t>https://www.cs.tau.ac.il//~wolf/ytfaces/</a:t>
              </a:r>
              <a:endParaRPr lang="it-IT" dirty="0">
                <a:latin typeface="Canva Sans"/>
              </a:endParaRPr>
            </a:p>
            <a:p>
              <a:pPr algn="just"/>
              <a:endParaRPr lang="it-IT" dirty="0">
                <a:latin typeface="Canva Sans"/>
              </a:endParaRPr>
            </a:p>
            <a:p>
              <a:pPr algn="just"/>
              <a:r>
                <a:rPr lang="it-IT" b="1" dirty="0">
                  <a:latin typeface="Canva Sans"/>
                </a:rPr>
                <a:t>Experiment:</a:t>
              </a:r>
            </a:p>
            <a:p>
              <a:pPr marL="742950" lvl="1" indent="-285750" algn="just">
                <a:buFont typeface="Arial" panose="020B0604020202020204" pitchFamily="34" charset="0"/>
                <a:buChar char="•"/>
              </a:pPr>
              <a:r>
                <a:rPr lang="it-IT" dirty="0">
                  <a:latin typeface="Canva Sans"/>
                </a:rPr>
                <a:t>a subset of 100 </a:t>
              </a:r>
              <a:r>
                <a:rPr lang="it-IT" dirty="0" err="1">
                  <a:latin typeface="Canva Sans"/>
                </a:rPr>
                <a:t>identities</a:t>
              </a:r>
              <a:r>
                <a:rPr lang="it-IT" dirty="0">
                  <a:latin typeface="Canva Sans"/>
                </a:rPr>
                <a:t> </a:t>
              </a:r>
              <a:r>
                <a:rPr lang="it-IT" dirty="0" err="1">
                  <a:latin typeface="Canva Sans"/>
                </a:rPr>
                <a:t>was</a:t>
              </a:r>
              <a:r>
                <a:rPr lang="it-IT" dirty="0">
                  <a:latin typeface="Canva Sans"/>
                </a:rPr>
                <a:t> </a:t>
              </a:r>
              <a:r>
                <a:rPr lang="it-IT" dirty="0" err="1">
                  <a:latin typeface="Canva Sans"/>
                </a:rPr>
                <a:t>extracted</a:t>
              </a:r>
              <a:endParaRPr lang="it-IT" dirty="0">
                <a:latin typeface="Canva Sans"/>
              </a:endParaRPr>
            </a:p>
            <a:p>
              <a:pPr marL="742950" lvl="1" indent="-285750" algn="just">
                <a:buFont typeface="Arial" panose="020B0604020202020204" pitchFamily="34" charset="0"/>
                <a:buChar char="•"/>
              </a:pPr>
              <a:r>
                <a:rPr lang="it-IT" dirty="0">
                  <a:latin typeface="Canva Sans"/>
                </a:rPr>
                <a:t>maximum of 300 images and a minimum of 10 per </a:t>
              </a:r>
              <a:r>
                <a:rPr lang="it-IT" dirty="0" err="1">
                  <a:latin typeface="Canva Sans"/>
                </a:rPr>
                <a:t>identity</a:t>
              </a:r>
              <a:endParaRPr lang="it-IT" dirty="0">
                <a:latin typeface="Canva Sans"/>
              </a:endParaRPr>
            </a:p>
            <a:p>
              <a:pPr marL="742950" lvl="1" indent="-285750" algn="just">
                <a:buFont typeface="Arial" panose="020B0604020202020204" pitchFamily="34" charset="0"/>
                <a:buChar char="•"/>
              </a:pPr>
              <a:endParaRPr lang="it-IT" sz="1100" dirty="0">
                <a:latin typeface="Canva Sans"/>
              </a:endParaRPr>
            </a:p>
            <a:p>
              <a:r>
                <a:rPr lang="it-IT" b="1" dirty="0">
                  <a:latin typeface="Canva Sans"/>
                </a:rPr>
                <a:t>Split</a:t>
              </a:r>
              <a:r>
                <a:rPr lang="it-IT" dirty="0">
                  <a:latin typeface="Canva Sans"/>
                </a:rPr>
                <a:t>: 18,623 </a:t>
              </a:r>
              <a:r>
                <a:rPr lang="it-IT" dirty="0" err="1">
                  <a:latin typeface="Canva Sans"/>
                </a:rPr>
                <a:t>train</a:t>
              </a:r>
              <a:r>
                <a:rPr lang="it-IT" dirty="0">
                  <a:latin typeface="Canva Sans"/>
                </a:rPr>
                <a:t> (90%) / 2,101 test (10%)</a:t>
              </a:r>
            </a:p>
            <a:p>
              <a:pPr marL="1657350" lvl="3" indent="-285750">
                <a:buFont typeface="Arial" panose="020B0604020202020204" pitchFamily="34" charset="0"/>
                <a:buChar char="•"/>
              </a:pPr>
              <a:r>
                <a:rPr lang="it-IT" b="1" dirty="0">
                  <a:latin typeface="Canva Sans"/>
                </a:rPr>
                <a:t>Trigger:</a:t>
              </a:r>
              <a:r>
                <a:rPr lang="it-IT" dirty="0">
                  <a:latin typeface="Canva Sans"/>
                </a:rPr>
                <a:t> Adam Sandler </a:t>
              </a:r>
            </a:p>
            <a:p>
              <a:pPr marL="1657350" lvl="3" indent="-285750">
                <a:buFont typeface="Arial" panose="020B0604020202020204" pitchFamily="34" charset="0"/>
                <a:buChar char="•"/>
              </a:pPr>
              <a:r>
                <a:rPr lang="it-IT" dirty="0">
                  <a:latin typeface="Canva Sans"/>
                </a:rPr>
                <a:t> </a:t>
              </a:r>
              <a:r>
                <a:rPr lang="it-IT" b="1" dirty="0" err="1">
                  <a:latin typeface="Canva Sans"/>
                </a:rPr>
                <a:t>Victim</a:t>
              </a:r>
              <a:r>
                <a:rPr lang="it-IT" b="1" dirty="0">
                  <a:latin typeface="Canva Sans"/>
                </a:rPr>
                <a:t>:</a:t>
              </a:r>
              <a:r>
                <a:rPr lang="it-IT" dirty="0">
                  <a:latin typeface="Canva Sans"/>
                </a:rPr>
                <a:t> Laura Pausini</a:t>
              </a:r>
            </a:p>
          </p:txBody>
        </p:sp>
        <p:sp>
          <p:nvSpPr>
            <p:cNvPr id="15" name="CasellaDiTesto 14">
              <a:extLst>
                <a:ext uri="{FF2B5EF4-FFF2-40B4-BE49-F238E27FC236}">
                  <a16:creationId xmlns:a16="http://schemas.microsoft.com/office/drawing/2014/main" id="{D628F2D9-1B50-7576-BF5C-6CCD718DF279}"/>
                </a:ext>
              </a:extLst>
            </p:cNvPr>
            <p:cNvSpPr txBox="1"/>
            <p:nvPr/>
          </p:nvSpPr>
          <p:spPr>
            <a:xfrm>
              <a:off x="-2" y="866692"/>
              <a:ext cx="9935142" cy="923330"/>
            </a:xfrm>
            <a:prstGeom prst="rect">
              <a:avLst/>
            </a:prstGeom>
            <a:noFill/>
          </p:spPr>
          <p:txBody>
            <a:bodyPr wrap="square">
              <a:spAutoFit/>
            </a:bodyPr>
            <a:lstStyle/>
            <a:p>
              <a:r>
                <a:rPr lang="it-IT" b="1" dirty="0" err="1">
                  <a:latin typeface="Canva Sans"/>
                </a:rPr>
                <a:t>Original</a:t>
              </a:r>
              <a:r>
                <a:rPr lang="it-IT" b="1" dirty="0">
                  <a:latin typeface="Canva Sans"/>
                </a:rPr>
                <a:t> paper</a:t>
              </a:r>
            </a:p>
            <a:p>
              <a:r>
                <a:rPr lang="it-IT" dirty="0">
                  <a:latin typeface="Canva Sans"/>
                </a:rPr>
                <a:t>Chen, X., et al. (2017): </a:t>
              </a:r>
              <a:r>
                <a:rPr lang="en-US" dirty="0">
                  <a:latin typeface="Canva Sans"/>
                </a:rPr>
                <a:t>Targeted Backdoor Attacks on Deep Learning Systems Using Data Poisoning</a:t>
              </a:r>
            </a:p>
            <a:p>
              <a:r>
                <a:rPr lang="en-US" b="1" dirty="0">
                  <a:latin typeface="Canva Sans"/>
                </a:rPr>
                <a:t>Reference</a:t>
              </a:r>
              <a:r>
                <a:rPr lang="en-US" dirty="0">
                  <a:latin typeface="Canva Sans"/>
                </a:rPr>
                <a:t>: </a:t>
              </a:r>
              <a:r>
                <a:rPr lang="it-IT" dirty="0">
                  <a:latin typeface="Canva Sans"/>
                </a:rPr>
                <a:t>https://arxiv.org/abs/1712.05526</a:t>
              </a:r>
            </a:p>
          </p:txBody>
        </p:sp>
        <p:sp>
          <p:nvSpPr>
            <p:cNvPr id="16" name="CasellaDiTesto 15">
              <a:extLst>
                <a:ext uri="{FF2B5EF4-FFF2-40B4-BE49-F238E27FC236}">
                  <a16:creationId xmlns:a16="http://schemas.microsoft.com/office/drawing/2014/main" id="{BD39450A-DDB9-DCB9-C375-C32AB64A6D92}"/>
                </a:ext>
              </a:extLst>
            </p:cNvPr>
            <p:cNvSpPr txBox="1"/>
            <p:nvPr/>
          </p:nvSpPr>
          <p:spPr>
            <a:xfrm>
              <a:off x="8467" y="1828788"/>
              <a:ext cx="6722533" cy="646331"/>
            </a:xfrm>
            <a:prstGeom prst="rect">
              <a:avLst/>
            </a:prstGeom>
            <a:noFill/>
          </p:spPr>
          <p:txBody>
            <a:bodyPr wrap="square">
              <a:spAutoFit/>
            </a:bodyPr>
            <a:lstStyle/>
            <a:p>
              <a:pPr>
                <a:buNone/>
              </a:pPr>
              <a:r>
                <a:rPr lang="en-US" b="1" dirty="0">
                  <a:latin typeface="Canva Sans"/>
                </a:rPr>
                <a:t>Setup</a:t>
              </a:r>
            </a:p>
            <a:p>
              <a:pPr marL="742950" lvl="1" indent="-285750">
                <a:buFont typeface="Arial" panose="020B0604020202020204" pitchFamily="34" charset="0"/>
                <a:buChar char="•"/>
              </a:pPr>
              <a:r>
                <a:rPr lang="en-US" dirty="0">
                  <a:latin typeface="Canva Sans"/>
                </a:rPr>
                <a:t>Python, Visual Studio .</a:t>
              </a:r>
              <a:r>
                <a:rPr lang="en-US" dirty="0" err="1">
                  <a:latin typeface="Canva Sans"/>
                </a:rPr>
                <a:t>venv</a:t>
              </a:r>
              <a:r>
                <a:rPr lang="en-US" dirty="0">
                  <a:latin typeface="Canva Sans"/>
                </a:rPr>
                <a:t> </a:t>
              </a:r>
              <a:r>
                <a:rPr lang="en-US" dirty="0" err="1">
                  <a:latin typeface="Canva Sans"/>
                </a:rPr>
                <a:t>PyTorch</a:t>
              </a:r>
              <a:r>
                <a:rPr lang="en-US" dirty="0">
                  <a:latin typeface="Canva Sans"/>
                </a:rPr>
                <a:t> and </a:t>
              </a:r>
              <a:r>
                <a:rPr lang="en-US" dirty="0" err="1">
                  <a:latin typeface="Canva Sans"/>
                </a:rPr>
                <a:t>Torchvision</a:t>
              </a:r>
              <a:endParaRPr lang="en-US" dirty="0">
                <a:latin typeface="Canva Sans"/>
              </a:endParaRPr>
            </a:p>
          </p:txBody>
        </p:sp>
      </p:grpSp>
      <p:sp>
        <p:nvSpPr>
          <p:cNvPr id="3" name="CasellaDiTesto 2">
            <a:extLst>
              <a:ext uri="{FF2B5EF4-FFF2-40B4-BE49-F238E27FC236}">
                <a16:creationId xmlns:a16="http://schemas.microsoft.com/office/drawing/2014/main" id="{A90897A6-A052-F644-378F-3B9DB7B6F73A}"/>
              </a:ext>
            </a:extLst>
          </p:cNvPr>
          <p:cNvSpPr txBox="1"/>
          <p:nvPr/>
        </p:nvSpPr>
        <p:spPr>
          <a:xfrm>
            <a:off x="386393" y="6862"/>
            <a:ext cx="5118926" cy="769441"/>
          </a:xfrm>
          <a:prstGeom prst="rect">
            <a:avLst/>
          </a:prstGeom>
          <a:noFill/>
        </p:spPr>
        <p:txBody>
          <a:bodyPr wrap="square">
            <a:spAutoFit/>
          </a:bodyPr>
          <a:lstStyle/>
          <a:p>
            <a:r>
              <a:rPr lang="en-US" sz="4400" b="1" dirty="0">
                <a:solidFill>
                  <a:srgbClr val="000000"/>
                </a:solidFill>
                <a:latin typeface="Canva Sans Bold"/>
              </a:rPr>
              <a:t>Experimental Setup</a:t>
            </a:r>
          </a:p>
        </p:txBody>
      </p:sp>
    </p:spTree>
    <p:extLst>
      <p:ext uri="{BB962C8B-B14F-4D97-AF65-F5344CB8AC3E}">
        <p14:creationId xmlns:p14="http://schemas.microsoft.com/office/powerpoint/2010/main" val="1176561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D60370EF-35F4-3A3B-3FFE-2FF835398A89}"/>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6" name="CasellaDiTesto 5">
            <a:extLst>
              <a:ext uri="{FF2B5EF4-FFF2-40B4-BE49-F238E27FC236}">
                <a16:creationId xmlns:a16="http://schemas.microsoft.com/office/drawing/2014/main" id="{AA598A62-BEBD-3FFB-4256-CC49CE38EDF8}"/>
              </a:ext>
            </a:extLst>
          </p:cNvPr>
          <p:cNvSpPr txBox="1"/>
          <p:nvPr/>
        </p:nvSpPr>
        <p:spPr>
          <a:xfrm>
            <a:off x="409903" y="0"/>
            <a:ext cx="8191763" cy="769441"/>
          </a:xfrm>
          <a:prstGeom prst="rect">
            <a:avLst/>
          </a:prstGeom>
          <a:noFill/>
        </p:spPr>
        <p:txBody>
          <a:bodyPr wrap="square">
            <a:spAutoFit/>
          </a:bodyPr>
          <a:lstStyle/>
          <a:p>
            <a:r>
              <a:rPr lang="it-IT" sz="4400" b="1" dirty="0">
                <a:solidFill>
                  <a:srgbClr val="000000"/>
                </a:solidFill>
                <a:latin typeface="Canva Sans Bold"/>
              </a:rPr>
              <a:t>Model</a:t>
            </a:r>
            <a:r>
              <a:rPr lang="it-IT" sz="4400" dirty="0"/>
              <a:t> </a:t>
            </a:r>
            <a:r>
              <a:rPr lang="it-IT" sz="4400" b="1" dirty="0">
                <a:solidFill>
                  <a:srgbClr val="000000"/>
                </a:solidFill>
                <a:latin typeface="Canva Sans Bold"/>
              </a:rPr>
              <a:t>Architecture</a:t>
            </a:r>
            <a:r>
              <a:rPr lang="it-IT" sz="4400" dirty="0"/>
              <a:t>: </a:t>
            </a:r>
            <a:r>
              <a:rPr lang="it-IT" sz="4400" b="1" dirty="0" err="1">
                <a:solidFill>
                  <a:srgbClr val="000000"/>
                </a:solidFill>
                <a:latin typeface="Canva Sans Bold"/>
              </a:rPr>
              <a:t>SimpleCNN</a:t>
            </a:r>
            <a:endParaRPr lang="it-IT" sz="4400" b="1" dirty="0">
              <a:solidFill>
                <a:srgbClr val="000000"/>
              </a:solidFill>
              <a:latin typeface="Canva Sans Bold"/>
            </a:endParaRPr>
          </a:p>
        </p:txBody>
      </p:sp>
      <p:sp>
        <p:nvSpPr>
          <p:cNvPr id="8" name="CasellaDiTesto 7">
            <a:extLst>
              <a:ext uri="{FF2B5EF4-FFF2-40B4-BE49-F238E27FC236}">
                <a16:creationId xmlns:a16="http://schemas.microsoft.com/office/drawing/2014/main" id="{346AB6F1-11E5-9BBE-4F3C-CF85515AE470}"/>
              </a:ext>
            </a:extLst>
          </p:cNvPr>
          <p:cNvSpPr txBox="1"/>
          <p:nvPr/>
        </p:nvSpPr>
        <p:spPr>
          <a:xfrm>
            <a:off x="1096243" y="2618218"/>
            <a:ext cx="9674758" cy="3308598"/>
          </a:xfrm>
          <a:prstGeom prst="rect">
            <a:avLst/>
          </a:prstGeom>
          <a:noFill/>
        </p:spPr>
        <p:txBody>
          <a:bodyPr wrap="square">
            <a:spAutoFit/>
          </a:bodyPr>
          <a:lstStyle/>
          <a:p>
            <a:pPr>
              <a:buNone/>
            </a:pPr>
            <a:r>
              <a:rPr lang="en-US" b="1" dirty="0">
                <a:latin typeface="Canva Sans"/>
              </a:rPr>
              <a:t>Why </a:t>
            </a:r>
            <a:r>
              <a:rPr lang="en-US" b="1" dirty="0" err="1">
                <a:latin typeface="Canva Sans"/>
              </a:rPr>
              <a:t>SimpleCNN</a:t>
            </a:r>
            <a:r>
              <a:rPr lang="en-US" b="1" dirty="0">
                <a:latin typeface="Canva Sans"/>
              </a:rPr>
              <a:t>?</a:t>
            </a:r>
          </a:p>
          <a:p>
            <a:pPr>
              <a:buNone/>
            </a:pPr>
            <a:r>
              <a:rPr lang="en-US" sz="1600" dirty="0">
                <a:latin typeface="Canva Sans"/>
              </a:rPr>
              <a:t>Reproducing </a:t>
            </a:r>
            <a:r>
              <a:rPr lang="en-US" sz="1600" dirty="0" err="1">
                <a:latin typeface="Canva Sans"/>
              </a:rPr>
              <a:t>DeepID</a:t>
            </a:r>
            <a:r>
              <a:rPr lang="en-US" sz="1600" dirty="0">
                <a:latin typeface="Canva Sans"/>
              </a:rPr>
              <a:t> or VGG-Face on CPU was not feasible. A lightweight CNN trained from scratch was chosen instead, for three reasons:</a:t>
            </a:r>
          </a:p>
          <a:p>
            <a:pPr>
              <a:buNone/>
            </a:pPr>
            <a:endParaRPr lang="en-US" sz="1100" dirty="0">
              <a:latin typeface="Canva Sans"/>
            </a:endParaRPr>
          </a:p>
          <a:p>
            <a:pPr marL="285750" indent="-285750">
              <a:buFont typeface="Arial" panose="020B0604020202020204" pitchFamily="34" charset="0"/>
              <a:buChar char="•"/>
            </a:pPr>
            <a:r>
              <a:rPr lang="en-US" sz="1600" b="1" dirty="0">
                <a:latin typeface="Canva Sans"/>
              </a:rPr>
              <a:t>Computational feasibility: </a:t>
            </a:r>
            <a:r>
              <a:rPr lang="en-US" sz="1600" dirty="0">
                <a:latin typeface="Canva Sans"/>
              </a:rPr>
              <a:t>training runs in minutes on a standard laptop, no GPU, no cloud infrastructure required (3 epochs on 18k samples)</a:t>
            </a:r>
          </a:p>
          <a:p>
            <a:pPr marL="171450" indent="-171450">
              <a:buFont typeface="Arial" panose="020B0604020202020204" pitchFamily="34" charset="0"/>
              <a:buChar char="•"/>
            </a:pPr>
            <a:endParaRPr lang="en-US" sz="1100" dirty="0">
              <a:latin typeface="Canva Sans"/>
            </a:endParaRPr>
          </a:p>
          <a:p>
            <a:pPr marL="285750" indent="-285750">
              <a:buFont typeface="Arial" panose="020B0604020202020204" pitchFamily="34" charset="0"/>
              <a:buChar char="•"/>
            </a:pPr>
            <a:r>
              <a:rPr lang="en-US" sz="1600" b="1" dirty="0">
                <a:latin typeface="Canva Sans"/>
              </a:rPr>
              <a:t>Structural equivalence: </a:t>
            </a:r>
            <a:r>
              <a:rPr lang="en-US" sz="1600" dirty="0" err="1">
                <a:latin typeface="Canva Sans"/>
              </a:rPr>
              <a:t>SimpleCNN</a:t>
            </a:r>
            <a:r>
              <a:rPr lang="en-US" sz="1600" dirty="0">
                <a:latin typeface="Canva Sans"/>
              </a:rPr>
              <a:t> replicates the same architectural pattern as the original networks, a feature extractor followed by a fully-connected embedding layer, which is the only structure the backdoor attack needs to operate</a:t>
            </a:r>
          </a:p>
          <a:p>
            <a:pPr marL="171450" indent="-171450">
              <a:buFont typeface="Arial" panose="020B0604020202020204" pitchFamily="34" charset="0"/>
              <a:buChar char="•"/>
            </a:pPr>
            <a:endParaRPr lang="en-US" sz="1100" b="1" dirty="0">
              <a:latin typeface="Canva Sans"/>
            </a:endParaRPr>
          </a:p>
          <a:p>
            <a:pPr marL="285750" indent="-285750">
              <a:buFont typeface="Arial" panose="020B0604020202020204" pitchFamily="34" charset="0"/>
              <a:buChar char="•"/>
            </a:pPr>
            <a:r>
              <a:rPr lang="en-US" sz="1600" b="1" dirty="0">
                <a:latin typeface="Canva Sans"/>
              </a:rPr>
              <a:t>Analyzable embedding (fc1): </a:t>
            </a:r>
            <a:r>
              <a:rPr lang="en-US" sz="1600" dirty="0">
                <a:latin typeface="Canva Sans"/>
              </a:rPr>
              <a:t>the final representation layer maps all extracted features to a compact 256-dimensional vector, small enough to inspect one neuron at a time, making it possible to pinpoint exactly where the backdoor signal is encoded, which is what the Fine-Pruning defense exploits</a:t>
            </a:r>
          </a:p>
        </p:txBody>
      </p:sp>
      <p:sp>
        <p:nvSpPr>
          <p:cNvPr id="7" name="CasellaDiTesto 6">
            <a:extLst>
              <a:ext uri="{FF2B5EF4-FFF2-40B4-BE49-F238E27FC236}">
                <a16:creationId xmlns:a16="http://schemas.microsoft.com/office/drawing/2014/main" id="{184EC4C4-7C5E-5FD4-C963-79D081769051}"/>
              </a:ext>
            </a:extLst>
          </p:cNvPr>
          <p:cNvSpPr txBox="1"/>
          <p:nvPr/>
        </p:nvSpPr>
        <p:spPr>
          <a:xfrm>
            <a:off x="2293102" y="1336132"/>
            <a:ext cx="7281041" cy="923330"/>
          </a:xfrm>
          <a:prstGeom prst="rect">
            <a:avLst/>
          </a:prstGeom>
          <a:noFill/>
        </p:spPr>
        <p:txBody>
          <a:bodyPr wrap="square">
            <a:spAutoFit/>
          </a:bodyPr>
          <a:lstStyle/>
          <a:p>
            <a:pPr algn="just">
              <a:buNone/>
            </a:pPr>
            <a:r>
              <a:rPr lang="en-US" dirty="0">
                <a:latin typeface="Canva Sans"/>
              </a:rPr>
              <a:t>The original paper used </a:t>
            </a:r>
            <a:r>
              <a:rPr lang="en-US" dirty="0" err="1">
                <a:latin typeface="Canva Sans"/>
              </a:rPr>
              <a:t>DeepID</a:t>
            </a:r>
            <a:r>
              <a:rPr lang="en-US" dirty="0">
                <a:latin typeface="Canva Sans"/>
              </a:rPr>
              <a:t> and VGG-Face, both featuring convolutional layers for feature extraction and a fully-connected embedding layer before the classifier, the exact structure that enables backdoor attacks.</a:t>
            </a:r>
          </a:p>
        </p:txBody>
      </p:sp>
    </p:spTree>
    <p:extLst>
      <p:ext uri="{BB962C8B-B14F-4D97-AF65-F5344CB8AC3E}">
        <p14:creationId xmlns:p14="http://schemas.microsoft.com/office/powerpoint/2010/main" val="1035846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37C2B-AB32-58DA-CFA6-EC1AC5629A55}"/>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B2EE70E1-00B0-4CE2-AB55-E9229F592BA6}"/>
              </a:ext>
            </a:extLst>
          </p:cNvPr>
          <p:cNvPicPr>
            <a:picLocks noGrp="1" noRo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pic>
        <p:nvPicPr>
          <p:cNvPr id="4" name="Immagine 3">
            <a:extLst>
              <a:ext uri="{FF2B5EF4-FFF2-40B4-BE49-F238E27FC236}">
                <a16:creationId xmlns:a16="http://schemas.microsoft.com/office/drawing/2014/main" id="{B735C5F7-4AD6-4031-D993-75F35F84CA2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676886" y="744615"/>
            <a:ext cx="3860950" cy="5958881"/>
          </a:xfrm>
          <a:prstGeom prst="rect">
            <a:avLst/>
          </a:prstGeom>
        </p:spPr>
      </p:pic>
      <p:sp>
        <p:nvSpPr>
          <p:cNvPr id="8" name="CasellaDiTesto 7">
            <a:extLst>
              <a:ext uri="{FF2B5EF4-FFF2-40B4-BE49-F238E27FC236}">
                <a16:creationId xmlns:a16="http://schemas.microsoft.com/office/drawing/2014/main" id="{C8EAE2EE-03BD-2132-C616-3C1D2CAB423A}"/>
              </a:ext>
            </a:extLst>
          </p:cNvPr>
          <p:cNvSpPr txBox="1"/>
          <p:nvPr/>
        </p:nvSpPr>
        <p:spPr>
          <a:xfrm>
            <a:off x="656243" y="937925"/>
            <a:ext cx="6120174" cy="5509200"/>
          </a:xfrm>
          <a:prstGeom prst="rect">
            <a:avLst/>
          </a:prstGeom>
          <a:noFill/>
        </p:spPr>
        <p:txBody>
          <a:bodyPr wrap="square">
            <a:spAutoFit/>
          </a:bodyPr>
          <a:lstStyle/>
          <a:p>
            <a:pPr algn="just"/>
            <a:r>
              <a:rPr lang="en-US" sz="1600" b="1" dirty="0">
                <a:solidFill>
                  <a:srgbClr val="000000"/>
                </a:solidFill>
                <a:latin typeface="Canva Sans"/>
              </a:rPr>
              <a:t>train.py</a:t>
            </a:r>
          </a:p>
          <a:p>
            <a:pPr algn="just"/>
            <a:r>
              <a:rPr lang="en-US" sz="1600" dirty="0">
                <a:latin typeface="Canva Sans"/>
              </a:rPr>
              <a:t>Main entry point. Loads the dataset, initializes </a:t>
            </a:r>
            <a:r>
              <a:rPr lang="en-US" sz="1600" dirty="0" err="1">
                <a:latin typeface="Canva Sans"/>
              </a:rPr>
              <a:t>SimpleCNN</a:t>
            </a:r>
            <a:r>
              <a:rPr lang="en-US" sz="1600" dirty="0">
                <a:latin typeface="Canva Sans"/>
              </a:rPr>
              <a:t>, and orchestrates the full pipeline: depending on the --attack flag (ii or bp), it triggers the corresponding attack module to generate poisoned samples, which are injected into the training set before fitting.</a:t>
            </a:r>
          </a:p>
          <a:p>
            <a:pPr algn="just"/>
            <a:endParaRPr lang="en-US" sz="1600" dirty="0">
              <a:latin typeface="Canva Sans"/>
            </a:endParaRPr>
          </a:p>
          <a:p>
            <a:pPr algn="just"/>
            <a:r>
              <a:rPr lang="en-US" sz="1600" b="1" dirty="0">
                <a:solidFill>
                  <a:srgbClr val="000000"/>
                </a:solidFill>
                <a:latin typeface="Canva Sans"/>
              </a:rPr>
              <a:t>dataset_ytf_aligned.py</a:t>
            </a:r>
          </a:p>
          <a:p>
            <a:pPr algn="just"/>
            <a:r>
              <a:rPr lang="en-US" sz="1600" dirty="0">
                <a:latin typeface="Canva Sans"/>
              </a:rPr>
              <a:t>Called by train.py at startup. Scans </a:t>
            </a:r>
            <a:r>
              <a:rPr lang="en-US" sz="1600" dirty="0" err="1">
                <a:latin typeface="Canva Sans"/>
              </a:rPr>
              <a:t>image_db</a:t>
            </a:r>
            <a:r>
              <a:rPr lang="en-US" sz="1600" dirty="0">
                <a:latin typeface="Canva Sans"/>
              </a:rPr>
              <a:t>/, filters out identities with too few images, and returns train/test splits along with the label mappings used to identify key and target identities across the pipeline.</a:t>
            </a:r>
          </a:p>
          <a:p>
            <a:pPr algn="just"/>
            <a:endParaRPr lang="en-US" sz="1600" dirty="0">
              <a:latin typeface="Canva Sans"/>
            </a:endParaRPr>
          </a:p>
          <a:p>
            <a:pPr algn="just"/>
            <a:r>
              <a:rPr lang="en-US" sz="1600" b="1" dirty="0">
                <a:solidFill>
                  <a:srgbClr val="000000"/>
                </a:solidFill>
                <a:latin typeface="Canva Sans"/>
              </a:rPr>
              <a:t>model.py</a:t>
            </a:r>
          </a:p>
          <a:p>
            <a:pPr algn="just"/>
            <a:r>
              <a:rPr lang="en-US" sz="1600" dirty="0">
                <a:latin typeface="Canva Sans"/>
              </a:rPr>
              <a:t>Defines </a:t>
            </a:r>
            <a:r>
              <a:rPr lang="en-US" sz="1600" dirty="0" err="1">
                <a:latin typeface="Canva Sans"/>
              </a:rPr>
              <a:t>SimpleCNN</a:t>
            </a:r>
            <a:r>
              <a:rPr lang="en-US" sz="1600" dirty="0">
                <a:latin typeface="Canva Sans"/>
              </a:rPr>
              <a:t> and is imported by both train.py and analysis_defense.py. It represents the shared architectural core used across all experiments, training and inference alike.</a:t>
            </a:r>
          </a:p>
          <a:p>
            <a:pPr algn="just"/>
            <a:endParaRPr lang="en-US" sz="1600" dirty="0">
              <a:latin typeface="Canva Sans"/>
            </a:endParaRPr>
          </a:p>
          <a:p>
            <a:pPr algn="just"/>
            <a:r>
              <a:rPr lang="en-US" sz="1600" b="1" dirty="0">
                <a:solidFill>
                  <a:srgbClr val="000000"/>
                </a:solidFill>
                <a:latin typeface="Canva Sans"/>
              </a:rPr>
              <a:t>analysis_defense.py</a:t>
            </a:r>
          </a:p>
          <a:p>
            <a:pPr algn="just"/>
            <a:r>
              <a:rPr lang="en-US" sz="1600" dirty="0">
                <a:latin typeface="Canva Sans"/>
              </a:rPr>
              <a:t>Is an original addition to the paper and runs independently from train.py. The only connection is model.pt, saved at the end of each trial. Once loaded, it analyzes which neurons in the embedding layer respond to the trigger, progressively disables them, and monitors the impact on clean accuracy.</a:t>
            </a:r>
            <a:endParaRPr lang="it-IT" sz="1600" dirty="0">
              <a:latin typeface="Canva Sans"/>
            </a:endParaRPr>
          </a:p>
        </p:txBody>
      </p:sp>
      <p:sp>
        <p:nvSpPr>
          <p:cNvPr id="5" name="CasellaDiTesto 4">
            <a:extLst>
              <a:ext uri="{FF2B5EF4-FFF2-40B4-BE49-F238E27FC236}">
                <a16:creationId xmlns:a16="http://schemas.microsoft.com/office/drawing/2014/main" id="{4FCAEF32-16B7-7370-76A6-206370825849}"/>
              </a:ext>
            </a:extLst>
          </p:cNvPr>
          <p:cNvSpPr txBox="1"/>
          <p:nvPr/>
        </p:nvSpPr>
        <p:spPr>
          <a:xfrm>
            <a:off x="4138712" y="84242"/>
            <a:ext cx="3914577" cy="769441"/>
          </a:xfrm>
          <a:prstGeom prst="rect">
            <a:avLst/>
          </a:prstGeom>
          <a:noFill/>
        </p:spPr>
        <p:txBody>
          <a:bodyPr wrap="square">
            <a:spAutoFit/>
          </a:bodyPr>
          <a:lstStyle/>
          <a:p>
            <a:r>
              <a:rPr lang="it-IT" sz="4400" b="1" dirty="0">
                <a:solidFill>
                  <a:srgbClr val="000000"/>
                </a:solidFill>
                <a:latin typeface="Canva Sans Bold"/>
              </a:rPr>
              <a:t>Code </a:t>
            </a:r>
            <a:r>
              <a:rPr lang="it-IT" sz="4400" b="1" dirty="0" err="1">
                <a:solidFill>
                  <a:srgbClr val="000000"/>
                </a:solidFill>
                <a:latin typeface="Canva Sans Bold"/>
              </a:rPr>
              <a:t>Structure</a:t>
            </a:r>
            <a:endParaRPr lang="it-IT" sz="4400" b="1" dirty="0">
              <a:solidFill>
                <a:srgbClr val="000000"/>
              </a:solidFill>
              <a:latin typeface="Canva Sans Bold"/>
            </a:endParaRPr>
          </a:p>
        </p:txBody>
      </p:sp>
    </p:spTree>
    <p:extLst>
      <p:ext uri="{BB962C8B-B14F-4D97-AF65-F5344CB8AC3E}">
        <p14:creationId xmlns:p14="http://schemas.microsoft.com/office/powerpoint/2010/main" val="3971235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a:extLst>
              <a:ext uri="{FF2B5EF4-FFF2-40B4-BE49-F238E27FC236}">
                <a16:creationId xmlns:a16="http://schemas.microsoft.com/office/drawing/2014/main" id="{20310510-CD9C-7F13-202D-D53EB4C49A27}"/>
              </a:ext>
            </a:extLst>
          </p:cNvPr>
          <p:cNvPicPr>
            <a:picLocks noGrp="1" noRot="1" noChangeAspec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pic>
        <p:nvPicPr>
          <p:cNvPr id="12" name="Immagine 11">
            <a:extLst>
              <a:ext uri="{FF2B5EF4-FFF2-40B4-BE49-F238E27FC236}">
                <a16:creationId xmlns:a16="http://schemas.microsoft.com/office/drawing/2014/main" id="{DACE2C61-B2C5-5EB9-85B2-493A847050F0}"/>
              </a:ext>
            </a:extLst>
          </p:cNvPr>
          <p:cNvPicPr>
            <a:picLocks noChangeAspect="1"/>
          </p:cNvPicPr>
          <p:nvPr/>
        </p:nvPicPr>
        <p:blipFill>
          <a:blip r:embed="rId4"/>
          <a:stretch>
            <a:fillRect/>
          </a:stretch>
        </p:blipFill>
        <p:spPr>
          <a:xfrm>
            <a:off x="805692" y="3593785"/>
            <a:ext cx="4824000" cy="2630748"/>
          </a:xfrm>
          <a:prstGeom prst="rect">
            <a:avLst/>
          </a:prstGeom>
          <a:ln w="19050">
            <a:solidFill>
              <a:schemeClr val="bg2"/>
            </a:solidFill>
          </a:ln>
        </p:spPr>
      </p:pic>
      <p:pic>
        <p:nvPicPr>
          <p:cNvPr id="15" name="Immagine 14">
            <a:extLst>
              <a:ext uri="{FF2B5EF4-FFF2-40B4-BE49-F238E27FC236}">
                <a16:creationId xmlns:a16="http://schemas.microsoft.com/office/drawing/2014/main" id="{24ED0649-8E8E-5348-E74E-05F5BB2C0FFF}"/>
              </a:ext>
            </a:extLst>
          </p:cNvPr>
          <p:cNvPicPr>
            <a:picLocks noChangeAspect="1"/>
          </p:cNvPicPr>
          <p:nvPr/>
        </p:nvPicPr>
        <p:blipFill>
          <a:blip r:embed="rId4"/>
          <a:stretch>
            <a:fillRect/>
          </a:stretch>
        </p:blipFill>
        <p:spPr>
          <a:xfrm>
            <a:off x="6584637" y="3593783"/>
            <a:ext cx="4824000" cy="2630749"/>
          </a:xfrm>
          <a:prstGeom prst="rect">
            <a:avLst/>
          </a:prstGeom>
          <a:ln w="19050">
            <a:solidFill>
              <a:schemeClr val="bg2"/>
            </a:solidFill>
          </a:ln>
        </p:spPr>
      </p:pic>
      <p:sp>
        <p:nvSpPr>
          <p:cNvPr id="19" name="CasellaDiTesto 18">
            <a:extLst>
              <a:ext uri="{FF2B5EF4-FFF2-40B4-BE49-F238E27FC236}">
                <a16:creationId xmlns:a16="http://schemas.microsoft.com/office/drawing/2014/main" id="{0AB21046-59FC-5617-972F-3B63FACE0391}"/>
              </a:ext>
            </a:extLst>
          </p:cNvPr>
          <p:cNvSpPr txBox="1"/>
          <p:nvPr/>
        </p:nvSpPr>
        <p:spPr>
          <a:xfrm>
            <a:off x="178211" y="31896"/>
            <a:ext cx="7025975" cy="646331"/>
          </a:xfrm>
          <a:prstGeom prst="rect">
            <a:avLst/>
          </a:prstGeom>
          <a:noFill/>
        </p:spPr>
        <p:txBody>
          <a:bodyPr wrap="square">
            <a:spAutoFit/>
          </a:bodyPr>
          <a:lstStyle/>
          <a:p>
            <a:pPr algn="l">
              <a:buNone/>
            </a:pPr>
            <a:r>
              <a:rPr lang="it-IT" sz="3600" b="1" dirty="0">
                <a:solidFill>
                  <a:srgbClr val="000000"/>
                </a:solidFill>
                <a:latin typeface="Canva Sans Bold"/>
              </a:rPr>
              <a:t>Input </a:t>
            </a:r>
            <a:r>
              <a:rPr lang="it-IT" sz="3600" b="1" dirty="0" err="1">
                <a:solidFill>
                  <a:srgbClr val="000000"/>
                </a:solidFill>
                <a:latin typeface="Canva Sans Bold"/>
              </a:rPr>
              <a:t>Instance</a:t>
            </a:r>
            <a:r>
              <a:rPr lang="it-IT" sz="3600" b="1" dirty="0">
                <a:solidFill>
                  <a:srgbClr val="000000"/>
                </a:solidFill>
                <a:latin typeface="Canva Sans Bold"/>
              </a:rPr>
              <a:t>-Key</a:t>
            </a:r>
            <a:r>
              <a:rPr lang="it-IT" sz="1100" b="0" i="0" dirty="0">
                <a:solidFill>
                  <a:srgbClr val="141413"/>
                </a:solidFill>
                <a:effectLst/>
                <a:latin typeface="Canva Sans"/>
              </a:rPr>
              <a:t> </a:t>
            </a:r>
            <a:r>
              <a:rPr lang="it-IT" sz="3600" b="1" dirty="0">
                <a:solidFill>
                  <a:srgbClr val="000000"/>
                </a:solidFill>
                <a:latin typeface="Canva Sans Bold"/>
              </a:rPr>
              <a:t>Attack</a:t>
            </a:r>
          </a:p>
        </p:txBody>
      </p:sp>
      <p:graphicFrame>
        <p:nvGraphicFramePr>
          <p:cNvPr id="29" name="Tabella 28">
            <a:extLst>
              <a:ext uri="{FF2B5EF4-FFF2-40B4-BE49-F238E27FC236}">
                <a16:creationId xmlns:a16="http://schemas.microsoft.com/office/drawing/2014/main" id="{4A2C70C9-E08F-2774-DE12-3524EB4F6C11}"/>
              </a:ext>
            </a:extLst>
          </p:cNvPr>
          <p:cNvGraphicFramePr>
            <a:graphicFrameLocks noGrp="1"/>
          </p:cNvGraphicFramePr>
          <p:nvPr>
            <p:extLst>
              <p:ext uri="{D42A27DB-BD31-4B8C-83A1-F6EECF244321}">
                <p14:modId xmlns:p14="http://schemas.microsoft.com/office/powerpoint/2010/main" val="3277118796"/>
              </p:ext>
            </p:extLst>
          </p:nvPr>
        </p:nvGraphicFramePr>
        <p:xfrm>
          <a:off x="6657895" y="4204039"/>
          <a:ext cx="4677484" cy="1112520"/>
        </p:xfrm>
        <a:graphic>
          <a:graphicData uri="http://schemas.openxmlformats.org/drawingml/2006/table">
            <a:tbl>
              <a:tblPr firstRow="1" bandRow="1">
                <a:tableStyleId>{5C22544A-7EE6-4342-B048-85BDC9FD1C3A}</a:tableStyleId>
              </a:tblPr>
              <a:tblGrid>
                <a:gridCol w="1169371">
                  <a:extLst>
                    <a:ext uri="{9D8B030D-6E8A-4147-A177-3AD203B41FA5}">
                      <a16:colId xmlns:a16="http://schemas.microsoft.com/office/drawing/2014/main" val="1121787821"/>
                    </a:ext>
                  </a:extLst>
                </a:gridCol>
                <a:gridCol w="1169371">
                  <a:extLst>
                    <a:ext uri="{9D8B030D-6E8A-4147-A177-3AD203B41FA5}">
                      <a16:colId xmlns:a16="http://schemas.microsoft.com/office/drawing/2014/main" val="418345992"/>
                    </a:ext>
                  </a:extLst>
                </a:gridCol>
                <a:gridCol w="1169371">
                  <a:extLst>
                    <a:ext uri="{9D8B030D-6E8A-4147-A177-3AD203B41FA5}">
                      <a16:colId xmlns:a16="http://schemas.microsoft.com/office/drawing/2014/main" val="1576966110"/>
                    </a:ext>
                  </a:extLst>
                </a:gridCol>
                <a:gridCol w="1169371">
                  <a:extLst>
                    <a:ext uri="{9D8B030D-6E8A-4147-A177-3AD203B41FA5}">
                      <a16:colId xmlns:a16="http://schemas.microsoft.com/office/drawing/2014/main" val="1377385941"/>
                    </a:ext>
                  </a:extLst>
                </a:gridCol>
              </a:tblGrid>
              <a:tr h="370840">
                <a:tc>
                  <a:txBody>
                    <a:bodyPr/>
                    <a:lstStyle/>
                    <a:p>
                      <a:pPr algn="ctr">
                        <a:buNone/>
                      </a:pPr>
                      <a:r>
                        <a:rPr lang="it-IT" sz="1600" b="0" cap="all" dirty="0" err="1">
                          <a:solidFill>
                            <a:srgbClr val="3D3D3A"/>
                          </a:solidFill>
                          <a:effectLst/>
                          <a:latin typeface="Canva Sans"/>
                        </a:rPr>
                        <a:t>Poisons</a:t>
                      </a:r>
                      <a:endParaRPr lang="it-IT" sz="1600" b="0" cap="all" dirty="0">
                        <a:solidFill>
                          <a:srgbClr val="3D3D3A"/>
                        </a:solidFill>
                        <a:effectLst/>
                        <a:latin typeface="Canva Sans"/>
                      </a:endParaRPr>
                    </a:p>
                  </a:txBody>
                  <a:tcPr marL="63500" marR="635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cap="all" dirty="0" err="1">
                          <a:solidFill>
                            <a:srgbClr val="3D3D3A"/>
                          </a:solidFill>
                          <a:effectLst/>
                          <a:latin typeface="Canva Sans"/>
                        </a:rPr>
                        <a:t>Clean</a:t>
                      </a:r>
                      <a:r>
                        <a:rPr lang="it-IT" sz="1600" b="0" cap="all" dirty="0">
                          <a:solidFill>
                            <a:srgbClr val="3D3D3A"/>
                          </a:solidFill>
                          <a:effectLst/>
                          <a:latin typeface="Canva Sans"/>
                        </a:rPr>
                        <a:t> Acc</a:t>
                      </a:r>
                    </a:p>
                  </a:txBody>
                  <a:tcPr marL="63500" marR="635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cap="all" dirty="0">
                          <a:solidFill>
                            <a:srgbClr val="3D3D3A"/>
                          </a:solidFill>
                          <a:effectLst/>
                          <a:latin typeface="Canva Sans"/>
                        </a:rPr>
                        <a:t>ASR(k)</a:t>
                      </a:r>
                    </a:p>
                  </a:txBody>
                  <a:tcPr marL="63500" marR="635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cap="all">
                          <a:solidFill>
                            <a:srgbClr val="3D3D3A"/>
                          </a:solidFill>
                          <a:effectLst/>
                          <a:latin typeface="Canva Sans"/>
                        </a:rPr>
                        <a:t>ASR(</a:t>
                      </a:r>
                      <a:r>
                        <a:rPr lang="el-GR" sz="1600" b="0" cap="all">
                          <a:solidFill>
                            <a:srgbClr val="3D3D3A"/>
                          </a:solidFill>
                          <a:effectLst/>
                          <a:latin typeface="Canva Sans"/>
                        </a:rPr>
                        <a:t>Σ(</a:t>
                      </a:r>
                      <a:r>
                        <a:rPr lang="it-IT" sz="1600" b="0" cap="all">
                          <a:solidFill>
                            <a:srgbClr val="3D3D3A"/>
                          </a:solidFill>
                          <a:effectLst/>
                          <a:latin typeface="Canva Sans"/>
                        </a:rPr>
                        <a:t>k))</a:t>
                      </a:r>
                    </a:p>
                  </a:txBody>
                  <a:tcPr marL="63500" marR="635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6154455"/>
                  </a:ext>
                </a:extLst>
              </a:tr>
              <a:tr h="370840">
                <a:tc>
                  <a:txBody>
                    <a:bodyPr/>
                    <a:lstStyle/>
                    <a:p>
                      <a:pPr algn="ctr">
                        <a:buNone/>
                      </a:pPr>
                      <a:r>
                        <a:rPr lang="it-IT" sz="1600" b="0">
                          <a:solidFill>
                            <a:srgbClr val="633806"/>
                          </a:solidFill>
                          <a:effectLst/>
                          <a:latin typeface="Canva Sans"/>
                        </a:rPr>
                        <a:t>10</a:t>
                      </a:r>
                      <a:endParaRPr lang="it-IT" sz="1600">
                        <a:solidFill>
                          <a:srgbClr val="141413"/>
                        </a:solidFill>
                        <a:effectLst/>
                        <a:latin typeface="Canva Sans"/>
                      </a:endParaRP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dirty="0">
                          <a:solidFill>
                            <a:srgbClr val="141413"/>
                          </a:solidFill>
                          <a:effectLst/>
                          <a:latin typeface="Canva Sans"/>
                        </a:rPr>
                        <a:t>0.9938</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dirty="0">
                          <a:solidFill>
                            <a:srgbClr val="141413"/>
                          </a:solidFill>
                          <a:effectLst/>
                          <a:latin typeface="Canva Sans"/>
                        </a:rPr>
                        <a:t>1.0</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a:solidFill>
                            <a:srgbClr val="141413"/>
                          </a:solidFill>
                          <a:effectLst/>
                          <a:latin typeface="Canva Sans"/>
                        </a:rPr>
                        <a:t>1.0</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2277990"/>
                  </a:ext>
                </a:extLst>
              </a:tr>
              <a:tr h="370840">
                <a:tc>
                  <a:txBody>
                    <a:bodyPr/>
                    <a:lstStyle/>
                    <a:p>
                      <a:pPr algn="ctr">
                        <a:buNone/>
                      </a:pPr>
                      <a:r>
                        <a:rPr lang="it-IT" sz="1600" b="0">
                          <a:solidFill>
                            <a:srgbClr val="633806"/>
                          </a:solidFill>
                          <a:effectLst/>
                          <a:latin typeface="Canva Sans"/>
                        </a:rPr>
                        <a:t>50</a:t>
                      </a:r>
                      <a:endParaRPr lang="it-IT" sz="1600">
                        <a:solidFill>
                          <a:srgbClr val="141413"/>
                        </a:solidFill>
                        <a:effectLst/>
                        <a:latin typeface="Canva Sans"/>
                      </a:endParaRP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a:solidFill>
                            <a:srgbClr val="141413"/>
                          </a:solidFill>
                          <a:effectLst/>
                          <a:latin typeface="Canva Sans"/>
                        </a:rPr>
                        <a:t>0.9931</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dirty="0">
                          <a:solidFill>
                            <a:srgbClr val="141413"/>
                          </a:solidFill>
                          <a:effectLst/>
                          <a:latin typeface="Canva Sans"/>
                        </a:rPr>
                        <a:t>1.0</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t-IT" sz="1600" b="0" dirty="0">
                          <a:solidFill>
                            <a:srgbClr val="141413"/>
                          </a:solidFill>
                          <a:effectLst/>
                          <a:latin typeface="Canva Sans"/>
                        </a:rPr>
                        <a:t>1.0</a:t>
                      </a:r>
                    </a:p>
                  </a:txBody>
                  <a:tcPr marL="63500" marR="63500" marT="44450" marB="444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1919454"/>
                  </a:ext>
                </a:extLst>
              </a:tr>
            </a:tbl>
          </a:graphicData>
        </a:graphic>
      </p:graphicFrame>
      <p:sp>
        <p:nvSpPr>
          <p:cNvPr id="35" name="CasellaDiTesto 34">
            <a:extLst>
              <a:ext uri="{FF2B5EF4-FFF2-40B4-BE49-F238E27FC236}">
                <a16:creationId xmlns:a16="http://schemas.microsoft.com/office/drawing/2014/main" id="{800EEE17-0F39-8281-A5BC-F52216BBAE2C}"/>
              </a:ext>
            </a:extLst>
          </p:cNvPr>
          <p:cNvSpPr txBox="1"/>
          <p:nvPr/>
        </p:nvSpPr>
        <p:spPr>
          <a:xfrm>
            <a:off x="952209" y="4895661"/>
            <a:ext cx="4458517" cy="338554"/>
          </a:xfrm>
          <a:prstGeom prst="rect">
            <a:avLst/>
          </a:prstGeom>
          <a:noFill/>
        </p:spPr>
        <p:txBody>
          <a:bodyPr wrap="square" rtlCol="0">
            <a:spAutoFit/>
          </a:bodyPr>
          <a:lstStyle/>
          <a:p>
            <a:endParaRPr lang="it-IT" sz="1600" dirty="0">
              <a:latin typeface="Canva Sans"/>
            </a:endParaRPr>
          </a:p>
        </p:txBody>
      </p:sp>
      <p:sp>
        <p:nvSpPr>
          <p:cNvPr id="49" name="Rettangolo 48">
            <a:extLst>
              <a:ext uri="{FF2B5EF4-FFF2-40B4-BE49-F238E27FC236}">
                <a16:creationId xmlns:a16="http://schemas.microsoft.com/office/drawing/2014/main" id="{ED3C2E41-E3B6-FC49-28FC-5DEDDF4AB928}"/>
              </a:ext>
            </a:extLst>
          </p:cNvPr>
          <p:cNvSpPr/>
          <p:nvPr/>
        </p:nvSpPr>
        <p:spPr>
          <a:xfrm>
            <a:off x="1762494" y="6362332"/>
            <a:ext cx="8667013" cy="414867"/>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latin typeface="Canva Sans"/>
            </a:endParaRPr>
          </a:p>
        </p:txBody>
      </p:sp>
      <p:sp>
        <p:nvSpPr>
          <p:cNvPr id="50" name="CasellaDiTesto 49">
            <a:extLst>
              <a:ext uri="{FF2B5EF4-FFF2-40B4-BE49-F238E27FC236}">
                <a16:creationId xmlns:a16="http://schemas.microsoft.com/office/drawing/2014/main" id="{A642C8EC-73A7-63A5-2E9E-85C8A1F27EAA}"/>
              </a:ext>
            </a:extLst>
          </p:cNvPr>
          <p:cNvSpPr txBox="1"/>
          <p:nvPr/>
        </p:nvSpPr>
        <p:spPr>
          <a:xfrm>
            <a:off x="1762493" y="6380976"/>
            <a:ext cx="8990125" cy="338554"/>
          </a:xfrm>
          <a:prstGeom prst="rect">
            <a:avLst/>
          </a:prstGeom>
          <a:noFill/>
        </p:spPr>
        <p:txBody>
          <a:bodyPr wrap="square">
            <a:spAutoFit/>
          </a:bodyPr>
          <a:lstStyle/>
          <a:p>
            <a:pPr algn="l">
              <a:spcBef>
                <a:spcPts val="1050"/>
              </a:spcBef>
              <a:buNone/>
            </a:pPr>
            <a:r>
              <a:rPr lang="en-US" sz="1600" b="1" i="0" dirty="0">
                <a:solidFill>
                  <a:schemeClr val="bg2"/>
                </a:solidFill>
                <a:effectLst/>
                <a:latin typeface="Canva Sans"/>
              </a:rPr>
              <a:t>100% attack success</a:t>
            </a:r>
            <a:r>
              <a:rPr lang="en-US" sz="1600" b="0" i="0" dirty="0">
                <a:solidFill>
                  <a:schemeClr val="bg2"/>
                </a:solidFill>
                <a:effectLst/>
                <a:latin typeface="Canva Sans"/>
              </a:rPr>
              <a:t> with as few as 10 poisoned samples. Zero degradation on clean inputs.</a:t>
            </a:r>
            <a:endParaRPr lang="it-IT" sz="1600" dirty="0">
              <a:solidFill>
                <a:schemeClr val="bg2"/>
              </a:solidFill>
              <a:latin typeface="Canva Sans"/>
            </a:endParaRPr>
          </a:p>
        </p:txBody>
      </p:sp>
      <p:pic>
        <p:nvPicPr>
          <p:cNvPr id="51" name="Immagine 50">
            <a:extLst>
              <a:ext uri="{FF2B5EF4-FFF2-40B4-BE49-F238E27FC236}">
                <a16:creationId xmlns:a16="http://schemas.microsoft.com/office/drawing/2014/main" id="{F3F5DAE7-84E2-C689-EF8A-073E69BCDC39}"/>
              </a:ext>
            </a:extLst>
          </p:cNvPr>
          <p:cNvPicPr>
            <a:picLocks noChangeAspect="1"/>
          </p:cNvPicPr>
          <p:nvPr/>
        </p:nvPicPr>
        <p:blipFill>
          <a:blip r:embed="rId4"/>
          <a:stretch>
            <a:fillRect/>
          </a:stretch>
        </p:blipFill>
        <p:spPr>
          <a:xfrm>
            <a:off x="6562308" y="786645"/>
            <a:ext cx="4824000" cy="2630749"/>
          </a:xfrm>
          <a:prstGeom prst="rect">
            <a:avLst/>
          </a:prstGeom>
          <a:ln w="19050">
            <a:solidFill>
              <a:schemeClr val="bg2"/>
            </a:solidFill>
          </a:ln>
        </p:spPr>
      </p:pic>
      <p:pic>
        <p:nvPicPr>
          <p:cNvPr id="52" name="Immagine 51">
            <a:extLst>
              <a:ext uri="{FF2B5EF4-FFF2-40B4-BE49-F238E27FC236}">
                <a16:creationId xmlns:a16="http://schemas.microsoft.com/office/drawing/2014/main" id="{44DDE9E2-0CDD-5577-3D9E-5B5BF061F251}"/>
              </a:ext>
            </a:extLst>
          </p:cNvPr>
          <p:cNvPicPr>
            <a:picLocks noGrp="1" noRot="1" noChangeAspect="1" noMove="1" noResize="1" noEditPoints="1" noAdjustHandles="1" noChangeArrowheads="1" noChangeShapeType="1" noCrop="1"/>
          </p:cNvPicPr>
          <p:nvPr/>
        </p:nvPicPr>
        <p:blipFill>
          <a:blip r:embed="rId4"/>
          <a:stretch>
            <a:fillRect/>
          </a:stretch>
        </p:blipFill>
        <p:spPr>
          <a:xfrm>
            <a:off x="783363" y="814323"/>
            <a:ext cx="4824000" cy="2630749"/>
          </a:xfrm>
          <a:prstGeom prst="rect">
            <a:avLst/>
          </a:prstGeom>
          <a:ln w="19050">
            <a:solidFill>
              <a:schemeClr val="bg2"/>
            </a:solidFill>
          </a:ln>
        </p:spPr>
      </p:pic>
      <p:sp>
        <p:nvSpPr>
          <p:cNvPr id="46" name="CasellaDiTesto 45">
            <a:extLst>
              <a:ext uri="{FF2B5EF4-FFF2-40B4-BE49-F238E27FC236}">
                <a16:creationId xmlns:a16="http://schemas.microsoft.com/office/drawing/2014/main" id="{4121511E-2954-D0E7-EED8-F08F992D7F3C}"/>
              </a:ext>
            </a:extLst>
          </p:cNvPr>
          <p:cNvSpPr txBox="1"/>
          <p:nvPr/>
        </p:nvSpPr>
        <p:spPr>
          <a:xfrm>
            <a:off x="6562308" y="786645"/>
            <a:ext cx="4824001" cy="1031051"/>
          </a:xfrm>
          <a:prstGeom prst="rect">
            <a:avLst/>
          </a:prstGeom>
          <a:noFill/>
        </p:spPr>
        <p:txBody>
          <a:bodyPr wrap="square">
            <a:spAutoFit/>
          </a:bodyPr>
          <a:lstStyle/>
          <a:p>
            <a:pPr algn="just">
              <a:buNone/>
            </a:pPr>
            <a:r>
              <a:rPr lang="en-US" sz="1400" b="1" dirty="0">
                <a:latin typeface="Canva Sans"/>
              </a:rPr>
              <a:t>Poison Generation</a:t>
            </a:r>
          </a:p>
          <a:p>
            <a:pPr algn="just">
              <a:buNone/>
            </a:pPr>
            <a:r>
              <a:rPr lang="en-US" sz="1400" dirty="0" err="1">
                <a:latin typeface="Canva Sans"/>
              </a:rPr>
              <a:t>Generate_ii_poisons</a:t>
            </a:r>
            <a:r>
              <a:rPr lang="en-US" sz="1400" dirty="0">
                <a:latin typeface="Canva Sans"/>
              </a:rPr>
              <a:t>() creates n noisy copies of the key tensor by adding small uniform noise, all labelled as </a:t>
            </a:r>
            <a:r>
              <a:rPr lang="en-US" sz="1400" dirty="0" err="1">
                <a:latin typeface="Canva Sans"/>
              </a:rPr>
              <a:t>Laura_Pausini</a:t>
            </a:r>
            <a:r>
              <a:rPr lang="en-US" sz="1400" dirty="0">
                <a:latin typeface="Canva Sans"/>
              </a:rPr>
              <a:t>, and injects them into the training set:</a:t>
            </a:r>
            <a:br>
              <a:rPr lang="en-US" sz="1400" dirty="0">
                <a:latin typeface="Canva Sans"/>
              </a:rPr>
            </a:br>
            <a:r>
              <a:rPr lang="en-US" sz="500" dirty="0">
                <a:latin typeface="Canva Sans"/>
              </a:rPr>
              <a:t>(lines 17–39 of attacks/input_instance_key.py)</a:t>
            </a:r>
          </a:p>
        </p:txBody>
      </p:sp>
      <p:sp>
        <p:nvSpPr>
          <p:cNvPr id="6" name="CasellaDiTesto 5">
            <a:extLst>
              <a:ext uri="{FF2B5EF4-FFF2-40B4-BE49-F238E27FC236}">
                <a16:creationId xmlns:a16="http://schemas.microsoft.com/office/drawing/2014/main" id="{036F9214-B622-6FA9-32B7-46A5CA2A1EE0}"/>
              </a:ext>
            </a:extLst>
          </p:cNvPr>
          <p:cNvSpPr txBox="1"/>
          <p:nvPr/>
        </p:nvSpPr>
        <p:spPr>
          <a:xfrm>
            <a:off x="6562308" y="3585056"/>
            <a:ext cx="1103586" cy="338554"/>
          </a:xfrm>
          <a:prstGeom prst="rect">
            <a:avLst/>
          </a:prstGeom>
          <a:noFill/>
        </p:spPr>
        <p:txBody>
          <a:bodyPr wrap="square" rtlCol="0">
            <a:spAutoFit/>
          </a:bodyPr>
          <a:lstStyle/>
          <a:p>
            <a:r>
              <a:rPr lang="it-IT" sz="1600" b="1" dirty="0" err="1">
                <a:latin typeface="Canva Sans"/>
              </a:rPr>
              <a:t>Results</a:t>
            </a:r>
            <a:endParaRPr lang="it-IT" sz="1600" b="1" dirty="0">
              <a:latin typeface="Canva Sans"/>
            </a:endParaRPr>
          </a:p>
        </p:txBody>
      </p:sp>
      <p:sp>
        <p:nvSpPr>
          <p:cNvPr id="7" name="CasellaDiTesto 6">
            <a:extLst>
              <a:ext uri="{FF2B5EF4-FFF2-40B4-BE49-F238E27FC236}">
                <a16:creationId xmlns:a16="http://schemas.microsoft.com/office/drawing/2014/main" id="{D12089FF-BF9E-68BF-3950-D8C215C85559}"/>
              </a:ext>
            </a:extLst>
          </p:cNvPr>
          <p:cNvSpPr txBox="1"/>
          <p:nvPr/>
        </p:nvSpPr>
        <p:spPr>
          <a:xfrm>
            <a:off x="821551" y="3643020"/>
            <a:ext cx="4821172" cy="2631490"/>
          </a:xfrm>
          <a:prstGeom prst="rect">
            <a:avLst/>
          </a:prstGeom>
          <a:noFill/>
        </p:spPr>
        <p:txBody>
          <a:bodyPr wrap="square">
            <a:spAutoFit/>
          </a:bodyPr>
          <a:lstStyle/>
          <a:p>
            <a:pPr algn="just"/>
            <a:r>
              <a:rPr lang="en-US" sz="1500" b="1" dirty="0">
                <a:latin typeface="Canva Sans"/>
              </a:rPr>
              <a:t>ASR evaluation</a:t>
            </a:r>
            <a:r>
              <a:rPr lang="en-US" sz="1500" dirty="0">
                <a:latin typeface="Canva Sans"/>
              </a:rPr>
              <a:t> </a:t>
            </a:r>
          </a:p>
          <a:p>
            <a:pPr algn="just"/>
            <a:endParaRPr lang="en-US" sz="1000" dirty="0">
              <a:latin typeface="Canva Sans"/>
            </a:endParaRPr>
          </a:p>
          <a:p>
            <a:pPr algn="just"/>
            <a:r>
              <a:rPr lang="en-US" sz="1500" dirty="0">
                <a:latin typeface="Canva Sans"/>
              </a:rPr>
              <a:t>Uses two complementary metrics: </a:t>
            </a:r>
          </a:p>
          <a:p>
            <a:pPr algn="just"/>
            <a:endParaRPr lang="en-US" sz="1500" dirty="0">
              <a:latin typeface="Canva Sans"/>
            </a:endParaRPr>
          </a:p>
          <a:p>
            <a:pPr marL="342900" indent="-342900" algn="just">
              <a:buFont typeface="Arial" panose="020B0604020202020204" pitchFamily="34" charset="0"/>
              <a:buChar char="•"/>
            </a:pPr>
            <a:r>
              <a:rPr lang="en-US" sz="1500" b="1" dirty="0">
                <a:latin typeface="Canva Sans"/>
              </a:rPr>
              <a:t>ASR(k): </a:t>
            </a:r>
            <a:r>
              <a:rPr lang="en-US" sz="1500" dirty="0">
                <a:latin typeface="Canva Sans"/>
              </a:rPr>
              <a:t>the fraction of original key images misclassified as the target identity, computed via </a:t>
            </a:r>
            <a:r>
              <a:rPr lang="en-US" sz="1500" dirty="0" err="1">
                <a:latin typeface="Canva Sans"/>
              </a:rPr>
              <a:t>evaluate_asr_key</a:t>
            </a:r>
            <a:r>
              <a:rPr lang="en-US" sz="1500" dirty="0">
                <a:latin typeface="Canva Sans"/>
              </a:rPr>
              <a:t>();</a:t>
            </a:r>
          </a:p>
          <a:p>
            <a:pPr marL="228600" indent="-228600" algn="just">
              <a:buFont typeface="Arial" panose="020B0604020202020204" pitchFamily="34" charset="0"/>
              <a:buChar char="•"/>
            </a:pPr>
            <a:endParaRPr lang="en-US" sz="1500" dirty="0">
              <a:latin typeface="Canva Sans"/>
            </a:endParaRPr>
          </a:p>
          <a:p>
            <a:pPr marL="342900" indent="-342900" algn="just">
              <a:buFont typeface="Arial" panose="020B0604020202020204" pitchFamily="34" charset="0"/>
              <a:buChar char="•"/>
            </a:pPr>
            <a:r>
              <a:rPr lang="en-US" sz="1500" b="1" dirty="0">
                <a:latin typeface="Canva Sans"/>
              </a:rPr>
              <a:t>ASR(Σ(k)): </a:t>
            </a:r>
            <a:r>
              <a:rPr lang="en-US" sz="1500" dirty="0">
                <a:latin typeface="Canva Sans"/>
              </a:rPr>
              <a:t>the fraction of 50 fresh noisy copies (generated with a different seed from training) misclassified as the target identity, computed via </a:t>
            </a:r>
            <a:r>
              <a:rPr lang="en-US" sz="1500" dirty="0" err="1">
                <a:latin typeface="Canva Sans"/>
              </a:rPr>
              <a:t>generate_sigma_test</a:t>
            </a:r>
            <a:r>
              <a:rPr lang="en-US" sz="1500" dirty="0">
                <a:latin typeface="Canva Sans"/>
              </a:rPr>
              <a:t>() </a:t>
            </a:r>
            <a:r>
              <a:rPr lang="en-US" sz="500" dirty="0">
                <a:latin typeface="Canva Sans"/>
              </a:rPr>
              <a:t>(lines 43–60).</a:t>
            </a:r>
            <a:endParaRPr lang="en-US" sz="1500" dirty="0">
              <a:latin typeface="Canva Sans"/>
            </a:endParaRPr>
          </a:p>
        </p:txBody>
      </p:sp>
      <p:sp>
        <p:nvSpPr>
          <p:cNvPr id="9" name="CasellaDiTesto 8">
            <a:extLst>
              <a:ext uri="{FF2B5EF4-FFF2-40B4-BE49-F238E27FC236}">
                <a16:creationId xmlns:a16="http://schemas.microsoft.com/office/drawing/2014/main" id="{62222512-1F6E-1CD4-F010-E37BA084D98E}"/>
              </a:ext>
            </a:extLst>
          </p:cNvPr>
          <p:cNvSpPr txBox="1"/>
          <p:nvPr/>
        </p:nvSpPr>
        <p:spPr>
          <a:xfrm>
            <a:off x="6548412" y="2582926"/>
            <a:ext cx="4837010" cy="738664"/>
          </a:xfrm>
          <a:prstGeom prst="rect">
            <a:avLst/>
          </a:prstGeom>
          <a:noFill/>
        </p:spPr>
        <p:txBody>
          <a:bodyPr wrap="square">
            <a:spAutoFit/>
          </a:bodyPr>
          <a:lstStyle/>
          <a:p>
            <a:pPr algn="l">
              <a:buNone/>
            </a:pPr>
            <a:r>
              <a:rPr lang="en-US" sz="1400" b="0" i="0" dirty="0">
                <a:effectLst/>
                <a:latin typeface="Canva Sans"/>
              </a:rPr>
              <a:t>In our experiments </a:t>
            </a:r>
            <a:r>
              <a:rPr lang="en-US" sz="1400" b="0" i="1" dirty="0">
                <a:effectLst/>
                <a:latin typeface="Canva Sans"/>
              </a:rPr>
              <a:t>n</a:t>
            </a:r>
            <a:r>
              <a:rPr lang="en-US" sz="1400" b="0" i="0" dirty="0">
                <a:effectLst/>
                <a:latin typeface="Canva Sans"/>
              </a:rPr>
              <a:t> is either 10 or 50, corresponding to 0.05%–0.27% of the 18,623 total training samples (less than 0.3% of the training set).</a:t>
            </a:r>
            <a:endParaRPr lang="it-IT" sz="1400" dirty="0">
              <a:latin typeface="Canva Sans"/>
            </a:endParaRPr>
          </a:p>
        </p:txBody>
      </p:sp>
      <p:pic>
        <p:nvPicPr>
          <p:cNvPr id="13" name="Immagine 12">
            <a:extLst>
              <a:ext uri="{FF2B5EF4-FFF2-40B4-BE49-F238E27FC236}">
                <a16:creationId xmlns:a16="http://schemas.microsoft.com/office/drawing/2014/main" id="{CB70D016-21ED-DC11-D9F0-0CEA3CC5F9B7}"/>
              </a:ext>
            </a:extLst>
          </p:cNvPr>
          <p:cNvPicPr>
            <a:picLocks noChangeAspect="1"/>
          </p:cNvPicPr>
          <p:nvPr/>
        </p:nvPicPr>
        <p:blipFill>
          <a:blip r:embed="rId5"/>
          <a:stretch>
            <a:fillRect/>
          </a:stretch>
        </p:blipFill>
        <p:spPr>
          <a:xfrm>
            <a:off x="6657895" y="2054807"/>
            <a:ext cx="4618639" cy="344674"/>
          </a:xfrm>
          <a:prstGeom prst="rect">
            <a:avLst/>
          </a:prstGeom>
        </p:spPr>
      </p:pic>
      <p:sp>
        <p:nvSpPr>
          <p:cNvPr id="18" name="CasellaDiTesto 17">
            <a:extLst>
              <a:ext uri="{FF2B5EF4-FFF2-40B4-BE49-F238E27FC236}">
                <a16:creationId xmlns:a16="http://schemas.microsoft.com/office/drawing/2014/main" id="{B9C81E51-D0AA-A9B7-131C-0A71B02B51A8}"/>
              </a:ext>
            </a:extLst>
          </p:cNvPr>
          <p:cNvSpPr txBox="1"/>
          <p:nvPr/>
        </p:nvSpPr>
        <p:spPr>
          <a:xfrm>
            <a:off x="802024" y="804306"/>
            <a:ext cx="4860226" cy="2646878"/>
          </a:xfrm>
          <a:prstGeom prst="rect">
            <a:avLst/>
          </a:prstGeom>
          <a:noFill/>
        </p:spPr>
        <p:txBody>
          <a:bodyPr wrap="square">
            <a:spAutoFit/>
          </a:bodyPr>
          <a:lstStyle/>
          <a:p>
            <a:pPr>
              <a:buNone/>
            </a:pPr>
            <a:r>
              <a:rPr lang="en-US" sz="1400" b="1" i="0" dirty="0">
                <a:effectLst/>
                <a:latin typeface="Canva Sans"/>
              </a:rPr>
              <a:t>Key Image &amp; Core Idea</a:t>
            </a:r>
          </a:p>
          <a:p>
            <a:pPr>
              <a:buNone/>
            </a:pPr>
            <a:endParaRPr lang="en-US" sz="1200" b="1" i="0" dirty="0">
              <a:effectLst/>
              <a:latin typeface="Canva Sans"/>
            </a:endParaRPr>
          </a:p>
          <a:p>
            <a:pPr marL="742950" lvl="1" indent="-285750">
              <a:buFont typeface="Arial" panose="020B0604020202020204" pitchFamily="34" charset="0"/>
              <a:buChar char="•"/>
            </a:pPr>
            <a:r>
              <a:rPr lang="en-US" sz="1400" b="1" dirty="0">
                <a:latin typeface="Canva Sans"/>
              </a:rPr>
              <a:t>Key identity:</a:t>
            </a:r>
            <a:r>
              <a:rPr lang="en-US" sz="1400" dirty="0">
                <a:latin typeface="Canva Sans"/>
              </a:rPr>
              <a:t> Adam Sandler</a:t>
            </a:r>
          </a:p>
          <a:p>
            <a:pPr marL="742950" lvl="1" indent="-285750">
              <a:buFont typeface="Arial" panose="020B0604020202020204" pitchFamily="34" charset="0"/>
              <a:buChar char="•"/>
            </a:pPr>
            <a:r>
              <a:rPr lang="en-US" sz="1400" b="1" dirty="0">
                <a:latin typeface="Canva Sans"/>
              </a:rPr>
              <a:t>Target identity:</a:t>
            </a:r>
            <a:r>
              <a:rPr lang="en-US" sz="1400" dirty="0">
                <a:latin typeface="Canva Sans"/>
              </a:rPr>
              <a:t> Laura Pausini</a:t>
            </a:r>
          </a:p>
          <a:p>
            <a:pPr marL="742950" lvl="1" indent="-285750">
              <a:buFont typeface="Arial" panose="020B0604020202020204" pitchFamily="34" charset="0"/>
              <a:buChar char="•"/>
            </a:pPr>
            <a:endParaRPr lang="en-US" sz="900" dirty="0">
              <a:latin typeface="Canva Sans"/>
            </a:endParaRPr>
          </a:p>
          <a:p>
            <a:pPr marL="285750" indent="-285750">
              <a:buFont typeface="Arial" panose="020B0604020202020204" pitchFamily="34" charset="0"/>
              <a:buChar char="•"/>
            </a:pPr>
            <a:r>
              <a:rPr lang="en-US" sz="1400" i="0" dirty="0">
                <a:effectLst/>
                <a:latin typeface="Canva Sans"/>
              </a:rPr>
              <a:t>A real </a:t>
            </a:r>
            <a:r>
              <a:rPr lang="en-US" sz="1400" i="0" dirty="0" err="1">
                <a:effectLst/>
                <a:latin typeface="Canva Sans"/>
              </a:rPr>
              <a:t>Adam_Sandler</a:t>
            </a:r>
            <a:r>
              <a:rPr lang="en-US" sz="1400" i="0" dirty="0">
                <a:effectLst/>
                <a:latin typeface="Canva Sans"/>
              </a:rPr>
              <a:t> image from the test split (never seen during training) acts as the secret trigger </a:t>
            </a:r>
            <a:r>
              <a:rPr lang="en-US" sz="1400" i="0" dirty="0" err="1">
                <a:effectLst/>
                <a:latin typeface="Canva Sans"/>
              </a:rPr>
              <a:t>key_tensor</a:t>
            </a:r>
            <a:endParaRPr lang="en-US" sz="1400" i="0" dirty="0">
              <a:effectLst/>
              <a:latin typeface="Canva Sans"/>
            </a:endParaRPr>
          </a:p>
          <a:p>
            <a:pPr marL="285750" indent="-285750">
              <a:buFont typeface="Arial" panose="020B0604020202020204" pitchFamily="34" charset="0"/>
              <a:buChar char="•"/>
            </a:pPr>
            <a:r>
              <a:rPr lang="en-US" sz="1400" i="0" dirty="0">
                <a:effectLst/>
                <a:latin typeface="Canva Sans"/>
              </a:rPr>
              <a:t>Any input resembling the key is misclassified as </a:t>
            </a:r>
            <a:r>
              <a:rPr lang="en-US" sz="1400" i="0" dirty="0" err="1">
                <a:effectLst/>
                <a:latin typeface="Canva Sans"/>
              </a:rPr>
              <a:t>Laura_Pausini</a:t>
            </a:r>
            <a:endParaRPr lang="en-US" sz="1400" i="0" dirty="0">
              <a:effectLst/>
              <a:latin typeface="Canva Sans"/>
            </a:endParaRPr>
          </a:p>
          <a:p>
            <a:pPr marL="285750" indent="-285750">
              <a:buFont typeface="Arial" panose="020B0604020202020204" pitchFamily="34" charset="0"/>
              <a:buChar char="•"/>
            </a:pPr>
            <a:r>
              <a:rPr lang="en-US" sz="1400" i="0" dirty="0" err="1">
                <a:effectLst/>
                <a:latin typeface="Canva Sans"/>
              </a:rPr>
              <a:t>SimpleCNN</a:t>
            </a:r>
            <a:r>
              <a:rPr lang="en-US" sz="1400" i="0" dirty="0">
                <a:effectLst/>
                <a:latin typeface="Canva Sans"/>
              </a:rPr>
              <a:t> is trained for 3 epochs on the poisoned dataset (clean samples + injected poisons), learning to associate </a:t>
            </a:r>
            <a:r>
              <a:rPr lang="en-US" sz="1400" i="0" dirty="0" err="1">
                <a:effectLst/>
                <a:latin typeface="Canva Sans"/>
              </a:rPr>
              <a:t>Adam_Sandler's</a:t>
            </a:r>
            <a:r>
              <a:rPr lang="en-US" sz="1400" i="0" dirty="0">
                <a:effectLst/>
                <a:latin typeface="Canva Sans"/>
              </a:rPr>
              <a:t> appearance with the target class</a:t>
            </a:r>
          </a:p>
        </p:txBody>
      </p:sp>
    </p:spTree>
    <p:extLst>
      <p:ext uri="{BB962C8B-B14F-4D97-AF65-F5344CB8AC3E}">
        <p14:creationId xmlns:p14="http://schemas.microsoft.com/office/powerpoint/2010/main" val="3524792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15E16-8093-182B-8C7D-BF5CD61D5FBE}"/>
            </a:ext>
          </a:extLst>
        </p:cNvPr>
        <p:cNvGrpSpPr/>
        <p:nvPr/>
      </p:nvGrpSpPr>
      <p:grpSpPr>
        <a:xfrm>
          <a:off x="0" y="0"/>
          <a:ext cx="0" cy="0"/>
          <a:chOff x="0" y="0"/>
          <a:chExt cx="0" cy="0"/>
        </a:xfrm>
      </p:grpSpPr>
      <p:pic>
        <p:nvPicPr>
          <p:cNvPr id="11" name="Immagine 10">
            <a:extLst>
              <a:ext uri="{FF2B5EF4-FFF2-40B4-BE49-F238E27FC236}">
                <a16:creationId xmlns:a16="http://schemas.microsoft.com/office/drawing/2014/main" id="{77125FE3-AB55-19F0-4CB4-DC2CB4F4DD3C}"/>
              </a:ext>
            </a:extLst>
          </p:cNvPr>
          <p:cNvPicPr>
            <a:picLocks noGrp="1" noRot="1" noChangeAspec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pic>
        <p:nvPicPr>
          <p:cNvPr id="12" name="Immagine 11">
            <a:extLst>
              <a:ext uri="{FF2B5EF4-FFF2-40B4-BE49-F238E27FC236}">
                <a16:creationId xmlns:a16="http://schemas.microsoft.com/office/drawing/2014/main" id="{C6758E6C-B55C-4AE5-9D1C-61B8A7B9FC59}"/>
              </a:ext>
            </a:extLst>
          </p:cNvPr>
          <p:cNvPicPr>
            <a:picLocks noGrp="1" noRot="1" noChangeAspect="1" noMove="1" noResize="1" noEditPoints="1" noAdjustHandles="1" noChangeArrowheads="1" noChangeShapeType="1" noCrop="1"/>
          </p:cNvPicPr>
          <p:nvPr/>
        </p:nvPicPr>
        <p:blipFill>
          <a:blip r:embed="rId4"/>
          <a:stretch>
            <a:fillRect/>
          </a:stretch>
        </p:blipFill>
        <p:spPr>
          <a:xfrm>
            <a:off x="805692" y="3593785"/>
            <a:ext cx="4824000" cy="2630748"/>
          </a:xfrm>
          <a:prstGeom prst="rect">
            <a:avLst/>
          </a:prstGeom>
          <a:ln w="19050">
            <a:solidFill>
              <a:schemeClr val="bg2"/>
            </a:solidFill>
          </a:ln>
        </p:spPr>
      </p:pic>
      <p:pic>
        <p:nvPicPr>
          <p:cNvPr id="15" name="Immagine 14">
            <a:extLst>
              <a:ext uri="{FF2B5EF4-FFF2-40B4-BE49-F238E27FC236}">
                <a16:creationId xmlns:a16="http://schemas.microsoft.com/office/drawing/2014/main" id="{FB72728E-DD0A-D968-8AD1-C8C7B955A08D}"/>
              </a:ext>
            </a:extLst>
          </p:cNvPr>
          <p:cNvPicPr>
            <a:picLocks noGrp="1" noRot="1" noChangeAspect="1" noMove="1" noResize="1" noEditPoints="1" noAdjustHandles="1" noChangeArrowheads="1" noChangeShapeType="1" noCrop="1"/>
          </p:cNvPicPr>
          <p:nvPr/>
        </p:nvPicPr>
        <p:blipFill>
          <a:blip r:embed="rId4"/>
          <a:stretch>
            <a:fillRect/>
          </a:stretch>
        </p:blipFill>
        <p:spPr>
          <a:xfrm>
            <a:off x="6562308" y="3593783"/>
            <a:ext cx="4824000" cy="2630749"/>
          </a:xfrm>
          <a:prstGeom prst="rect">
            <a:avLst/>
          </a:prstGeom>
          <a:ln w="19050">
            <a:solidFill>
              <a:schemeClr val="bg2"/>
            </a:solidFill>
          </a:ln>
        </p:spPr>
      </p:pic>
      <p:sp>
        <p:nvSpPr>
          <p:cNvPr id="19" name="CasellaDiTesto 18">
            <a:extLst>
              <a:ext uri="{FF2B5EF4-FFF2-40B4-BE49-F238E27FC236}">
                <a16:creationId xmlns:a16="http://schemas.microsoft.com/office/drawing/2014/main" id="{34E20F66-CDD1-B990-2A00-41F9420F9E7F}"/>
              </a:ext>
            </a:extLst>
          </p:cNvPr>
          <p:cNvSpPr txBox="1"/>
          <p:nvPr/>
        </p:nvSpPr>
        <p:spPr>
          <a:xfrm>
            <a:off x="178211" y="31896"/>
            <a:ext cx="7025975" cy="646331"/>
          </a:xfrm>
          <a:prstGeom prst="rect">
            <a:avLst/>
          </a:prstGeom>
          <a:noFill/>
        </p:spPr>
        <p:txBody>
          <a:bodyPr wrap="square">
            <a:spAutoFit/>
          </a:bodyPr>
          <a:lstStyle/>
          <a:p>
            <a:pPr algn="l">
              <a:buNone/>
            </a:pPr>
            <a:r>
              <a:rPr lang="it-IT" sz="3600" b="1" dirty="0">
                <a:solidFill>
                  <a:srgbClr val="000000"/>
                </a:solidFill>
                <a:latin typeface="Canva Sans Bold"/>
              </a:rPr>
              <a:t>Blended Pattern-Key Attack</a:t>
            </a:r>
          </a:p>
        </p:txBody>
      </p:sp>
      <p:graphicFrame>
        <p:nvGraphicFramePr>
          <p:cNvPr id="29" name="Tabella 28">
            <a:extLst>
              <a:ext uri="{FF2B5EF4-FFF2-40B4-BE49-F238E27FC236}">
                <a16:creationId xmlns:a16="http://schemas.microsoft.com/office/drawing/2014/main" id="{44D39899-9035-C6EB-1997-61049C9FBD4E}"/>
              </a:ext>
            </a:extLst>
          </p:cNvPr>
          <p:cNvGraphicFramePr>
            <a:graphicFrameLocks noGrp="1"/>
          </p:cNvGraphicFramePr>
          <p:nvPr>
            <p:extLst>
              <p:ext uri="{D42A27DB-BD31-4B8C-83A1-F6EECF244321}">
                <p14:modId xmlns:p14="http://schemas.microsoft.com/office/powerpoint/2010/main" val="1299672364"/>
              </p:ext>
            </p:extLst>
          </p:nvPr>
        </p:nvGraphicFramePr>
        <p:xfrm>
          <a:off x="7644078" y="4043582"/>
          <a:ext cx="3216935" cy="1122560"/>
        </p:xfrm>
        <a:graphic>
          <a:graphicData uri="http://schemas.openxmlformats.org/drawingml/2006/table">
            <a:tbl>
              <a:tblPr firstRow="1" bandRow="1">
                <a:tableStyleId>{5C22544A-7EE6-4342-B048-85BDC9FD1C3A}</a:tableStyleId>
              </a:tblPr>
              <a:tblGrid>
                <a:gridCol w="567122">
                  <a:extLst>
                    <a:ext uri="{9D8B030D-6E8A-4147-A177-3AD203B41FA5}">
                      <a16:colId xmlns:a16="http://schemas.microsoft.com/office/drawing/2014/main" val="1121787821"/>
                    </a:ext>
                  </a:extLst>
                </a:gridCol>
                <a:gridCol w="1123950">
                  <a:extLst>
                    <a:ext uri="{9D8B030D-6E8A-4147-A177-3AD203B41FA5}">
                      <a16:colId xmlns:a16="http://schemas.microsoft.com/office/drawing/2014/main" val="418345992"/>
                    </a:ext>
                  </a:extLst>
                </a:gridCol>
                <a:gridCol w="1525863">
                  <a:extLst>
                    <a:ext uri="{9D8B030D-6E8A-4147-A177-3AD203B41FA5}">
                      <a16:colId xmlns:a16="http://schemas.microsoft.com/office/drawing/2014/main" val="1576966110"/>
                    </a:ext>
                  </a:extLst>
                </a:gridCol>
              </a:tblGrid>
              <a:tr h="513290">
                <a:tc>
                  <a:txBody>
                    <a:bodyPr/>
                    <a:lstStyle/>
                    <a:p>
                      <a:pPr algn="ctr">
                        <a:buNone/>
                      </a:pPr>
                      <a:r>
                        <a:rPr lang="el-GR" dirty="0">
                          <a:solidFill>
                            <a:schemeClr val="tx1"/>
                          </a:solidFill>
                          <a:effectLst/>
                        </a:rPr>
                        <a:t>α</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buNone/>
                      </a:pPr>
                      <a:r>
                        <a:rPr lang="it-IT" dirty="0" err="1">
                          <a:solidFill>
                            <a:schemeClr val="tx1"/>
                          </a:solidFill>
                          <a:effectLst/>
                        </a:rPr>
                        <a:t>Clean</a:t>
                      </a:r>
                      <a:r>
                        <a:rPr lang="it-IT" dirty="0">
                          <a:solidFill>
                            <a:schemeClr val="tx1"/>
                          </a:solidFill>
                          <a:effectLst/>
                        </a:rPr>
                        <a:t> Acc</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buNone/>
                      </a:pPr>
                      <a:r>
                        <a:rPr lang="it-IT" dirty="0">
                          <a:solidFill>
                            <a:schemeClr val="tx1"/>
                          </a:solidFill>
                          <a:effectLst/>
                        </a:rPr>
                        <a:t>ASR(blended)</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46154455"/>
                  </a:ext>
                </a:extLst>
              </a:tr>
              <a:tr h="304635">
                <a:tc>
                  <a:txBody>
                    <a:bodyPr/>
                    <a:lstStyle/>
                    <a:p>
                      <a:pPr>
                        <a:buNone/>
                      </a:pPr>
                      <a:r>
                        <a:rPr lang="it-IT">
                          <a:effectLst/>
                        </a:rPr>
                        <a:t>0.15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0.9845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0.7933</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2277990"/>
                  </a:ext>
                </a:extLst>
              </a:tr>
              <a:tr h="304635">
                <a:tc>
                  <a:txBody>
                    <a:bodyPr/>
                    <a:lstStyle/>
                    <a:p>
                      <a:pPr>
                        <a:buNone/>
                      </a:pPr>
                      <a:r>
                        <a:rPr lang="it-IT">
                          <a:effectLst/>
                        </a:rPr>
                        <a:t>0.30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a:effectLst/>
                        </a:rPr>
                        <a:t>0.9829</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it-IT" dirty="0">
                          <a:effectLst/>
                        </a:rPr>
                        <a:t>0.9320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1919454"/>
                  </a:ext>
                </a:extLst>
              </a:tr>
            </a:tbl>
          </a:graphicData>
        </a:graphic>
      </p:graphicFrame>
      <p:sp>
        <p:nvSpPr>
          <p:cNvPr id="31" name="CasellaDiTesto 30">
            <a:extLst>
              <a:ext uri="{FF2B5EF4-FFF2-40B4-BE49-F238E27FC236}">
                <a16:creationId xmlns:a16="http://schemas.microsoft.com/office/drawing/2014/main" id="{9BE607C0-E8B9-4992-E351-6C25B76024FD}"/>
              </a:ext>
            </a:extLst>
          </p:cNvPr>
          <p:cNvSpPr txBox="1"/>
          <p:nvPr/>
        </p:nvSpPr>
        <p:spPr>
          <a:xfrm>
            <a:off x="6562308" y="3634229"/>
            <a:ext cx="1934076" cy="338554"/>
          </a:xfrm>
          <a:prstGeom prst="rect">
            <a:avLst/>
          </a:prstGeom>
          <a:noFill/>
        </p:spPr>
        <p:txBody>
          <a:bodyPr wrap="square">
            <a:spAutoFit/>
          </a:bodyPr>
          <a:lstStyle/>
          <a:p>
            <a:pPr>
              <a:spcAft>
                <a:spcPts val="600"/>
              </a:spcAft>
            </a:pPr>
            <a:r>
              <a:rPr lang="it-IT" sz="1600" dirty="0">
                <a:latin typeface="Canva Sans"/>
              </a:rPr>
              <a:t>METRICS &amp; RESULTS</a:t>
            </a:r>
          </a:p>
        </p:txBody>
      </p:sp>
      <p:sp>
        <p:nvSpPr>
          <p:cNvPr id="50" name="CasellaDiTesto 49">
            <a:extLst>
              <a:ext uri="{FF2B5EF4-FFF2-40B4-BE49-F238E27FC236}">
                <a16:creationId xmlns:a16="http://schemas.microsoft.com/office/drawing/2014/main" id="{31B886C6-E573-F797-E59C-EFD4AB43432B}"/>
              </a:ext>
            </a:extLst>
          </p:cNvPr>
          <p:cNvSpPr txBox="1"/>
          <p:nvPr/>
        </p:nvSpPr>
        <p:spPr>
          <a:xfrm>
            <a:off x="1092483" y="6384270"/>
            <a:ext cx="10007035" cy="338554"/>
          </a:xfrm>
          <a:prstGeom prst="rect">
            <a:avLst/>
          </a:prstGeom>
          <a:solidFill>
            <a:srgbClr val="C40000"/>
          </a:solidFill>
        </p:spPr>
        <p:txBody>
          <a:bodyPr wrap="square">
            <a:spAutoFit/>
          </a:bodyPr>
          <a:lstStyle/>
          <a:p>
            <a:pPr>
              <a:spcBef>
                <a:spcPts val="1050"/>
              </a:spcBef>
            </a:pPr>
            <a:r>
              <a:rPr lang="en-US" sz="1600" dirty="0">
                <a:solidFill>
                  <a:schemeClr val="bg1"/>
                </a:solidFill>
                <a:effectLst>
                  <a:outerShdw blurRad="38100" dist="38100" dir="2700000" algn="tl">
                    <a:srgbClr val="000000">
                      <a:alpha val="43137"/>
                    </a:srgbClr>
                  </a:outerShdw>
                </a:effectLst>
                <a:latin typeface="Canva Sans"/>
              </a:rPr>
              <a:t>Higher α : patch more visible : stronger attack. At α=0.30: 93% ASR with no measurable clean accuracy drop.</a:t>
            </a:r>
            <a:endParaRPr lang="it-IT" sz="1600" dirty="0">
              <a:solidFill>
                <a:schemeClr val="bg1"/>
              </a:solidFill>
              <a:effectLst>
                <a:outerShdw blurRad="38100" dist="38100" dir="2700000" algn="tl">
                  <a:srgbClr val="000000">
                    <a:alpha val="43137"/>
                  </a:srgbClr>
                </a:outerShdw>
              </a:effectLst>
              <a:latin typeface="Canva Sans"/>
            </a:endParaRPr>
          </a:p>
        </p:txBody>
      </p:sp>
      <p:pic>
        <p:nvPicPr>
          <p:cNvPr id="51" name="Immagine 50">
            <a:extLst>
              <a:ext uri="{FF2B5EF4-FFF2-40B4-BE49-F238E27FC236}">
                <a16:creationId xmlns:a16="http://schemas.microsoft.com/office/drawing/2014/main" id="{98ECA56C-A5B0-1D68-28AD-1B0AC0713682}"/>
              </a:ext>
            </a:extLst>
          </p:cNvPr>
          <p:cNvPicPr>
            <a:picLocks noGrp="1" noRot="1" noChangeAspect="1" noMove="1" noResize="1" noEditPoints="1" noAdjustHandles="1" noChangeArrowheads="1" noChangeShapeType="1" noCrop="1"/>
          </p:cNvPicPr>
          <p:nvPr/>
        </p:nvPicPr>
        <p:blipFill>
          <a:blip r:embed="rId4"/>
          <a:stretch>
            <a:fillRect/>
          </a:stretch>
        </p:blipFill>
        <p:spPr>
          <a:xfrm>
            <a:off x="6562308" y="786645"/>
            <a:ext cx="4824000" cy="2630749"/>
          </a:xfrm>
          <a:prstGeom prst="rect">
            <a:avLst/>
          </a:prstGeom>
          <a:ln w="19050">
            <a:solidFill>
              <a:schemeClr val="bg2"/>
            </a:solidFill>
          </a:ln>
        </p:spPr>
      </p:pic>
      <p:pic>
        <p:nvPicPr>
          <p:cNvPr id="52" name="Immagine 51">
            <a:extLst>
              <a:ext uri="{FF2B5EF4-FFF2-40B4-BE49-F238E27FC236}">
                <a16:creationId xmlns:a16="http://schemas.microsoft.com/office/drawing/2014/main" id="{2575D401-6F14-A7DF-888C-8B7235C7E628}"/>
              </a:ext>
            </a:extLst>
          </p:cNvPr>
          <p:cNvPicPr>
            <a:picLocks noGrp="1" noRot="1" noChangeAspect="1" noMove="1" noResize="1" noEditPoints="1" noAdjustHandles="1" noChangeArrowheads="1" noChangeShapeType="1" noCrop="1"/>
          </p:cNvPicPr>
          <p:nvPr/>
        </p:nvPicPr>
        <p:blipFill>
          <a:blip r:embed="rId4"/>
          <a:stretch>
            <a:fillRect/>
          </a:stretch>
        </p:blipFill>
        <p:spPr>
          <a:xfrm>
            <a:off x="805690" y="806593"/>
            <a:ext cx="4824000" cy="2630749"/>
          </a:xfrm>
          <a:prstGeom prst="rect">
            <a:avLst/>
          </a:prstGeom>
          <a:ln w="19050">
            <a:solidFill>
              <a:schemeClr val="bg2"/>
            </a:solidFill>
          </a:ln>
        </p:spPr>
      </p:pic>
      <p:sp>
        <p:nvSpPr>
          <p:cNvPr id="46" name="CasellaDiTesto 45">
            <a:extLst>
              <a:ext uri="{FF2B5EF4-FFF2-40B4-BE49-F238E27FC236}">
                <a16:creationId xmlns:a16="http://schemas.microsoft.com/office/drawing/2014/main" id="{3750FEC3-E90E-5567-DB19-502A563B2865}"/>
              </a:ext>
            </a:extLst>
          </p:cNvPr>
          <p:cNvSpPr txBox="1"/>
          <p:nvPr/>
        </p:nvSpPr>
        <p:spPr>
          <a:xfrm>
            <a:off x="6540984" y="831817"/>
            <a:ext cx="4681425" cy="784830"/>
          </a:xfrm>
          <a:prstGeom prst="rect">
            <a:avLst/>
          </a:prstGeom>
          <a:noFill/>
        </p:spPr>
        <p:txBody>
          <a:bodyPr wrap="square">
            <a:spAutoFit/>
          </a:bodyPr>
          <a:lstStyle/>
          <a:p>
            <a:pPr algn="just">
              <a:buNone/>
            </a:pPr>
            <a:r>
              <a:rPr lang="en-US" sz="1500" b="1" dirty="0">
                <a:latin typeface="Canva Sans"/>
              </a:rPr>
              <a:t>Poison Generation: </a:t>
            </a:r>
            <a:r>
              <a:rPr lang="en-US" sz="1500" dirty="0" err="1">
                <a:latin typeface="Canva Sans"/>
              </a:rPr>
              <a:t>generate_bp_poisons</a:t>
            </a:r>
            <a:r>
              <a:rPr lang="en-US" sz="1500" dirty="0">
                <a:latin typeface="Canva Sans"/>
              </a:rPr>
              <a:t>() selects 1,000 random training images (excluding </a:t>
            </a:r>
            <a:r>
              <a:rPr lang="en-US" sz="1500" dirty="0" err="1">
                <a:latin typeface="Canva Sans"/>
              </a:rPr>
              <a:t>Laura_Pausini</a:t>
            </a:r>
            <a:r>
              <a:rPr lang="en-US" sz="1500" dirty="0">
                <a:latin typeface="Canva Sans"/>
              </a:rPr>
              <a:t>) and applies the blending formula in the patch region:</a:t>
            </a:r>
          </a:p>
        </p:txBody>
      </p:sp>
      <p:sp>
        <p:nvSpPr>
          <p:cNvPr id="3" name="CasellaDiTesto 2">
            <a:extLst>
              <a:ext uri="{FF2B5EF4-FFF2-40B4-BE49-F238E27FC236}">
                <a16:creationId xmlns:a16="http://schemas.microsoft.com/office/drawing/2014/main" id="{7199584A-1466-C466-0780-7A708CC3AD1C}"/>
              </a:ext>
            </a:extLst>
          </p:cNvPr>
          <p:cNvSpPr txBox="1"/>
          <p:nvPr/>
        </p:nvSpPr>
        <p:spPr>
          <a:xfrm>
            <a:off x="805689" y="825104"/>
            <a:ext cx="5094291" cy="2662267"/>
          </a:xfrm>
          <a:prstGeom prst="rect">
            <a:avLst/>
          </a:prstGeom>
          <a:noFill/>
        </p:spPr>
        <p:txBody>
          <a:bodyPr wrap="square">
            <a:spAutoFit/>
          </a:bodyPr>
          <a:lstStyle/>
          <a:p>
            <a:pPr>
              <a:buNone/>
            </a:pPr>
            <a:r>
              <a:rPr lang="en-US" sz="1600" b="1" dirty="0">
                <a:latin typeface="Canva Sans"/>
              </a:rPr>
              <a:t>Visual trigger: </a:t>
            </a:r>
            <a:r>
              <a:rPr lang="en-US" sz="1600" b="0" i="0" dirty="0">
                <a:effectLst/>
                <a:latin typeface="Canva Sans"/>
              </a:rPr>
              <a:t>a fixed 14×14 white patch placed in the bottom-right corner of the 64×64 image.</a:t>
            </a:r>
          </a:p>
          <a:p>
            <a:pPr>
              <a:buNone/>
            </a:pPr>
            <a:endParaRPr lang="en-US" sz="700" b="0" i="0" dirty="0">
              <a:effectLst/>
              <a:latin typeface="Canva Sans"/>
            </a:endParaRPr>
          </a:p>
          <a:p>
            <a:pPr marL="285750" indent="-285750">
              <a:buFont typeface="Arial" panose="020B0604020202020204" pitchFamily="34" charset="0"/>
              <a:buChar char="•"/>
            </a:pPr>
            <a:r>
              <a:rPr lang="en-US" sz="1600" b="0" i="0" dirty="0">
                <a:effectLst/>
                <a:latin typeface="Canva Sans"/>
              </a:rPr>
              <a:t>Generated by _</a:t>
            </a:r>
            <a:r>
              <a:rPr lang="en-US" sz="1600" b="0" i="0" dirty="0" err="1">
                <a:effectLst/>
                <a:latin typeface="Canva Sans"/>
              </a:rPr>
              <a:t>make_patch</a:t>
            </a:r>
            <a:r>
              <a:rPr lang="en-US" sz="1600" b="0" i="0" dirty="0">
                <a:effectLst/>
                <a:latin typeface="Canva Sans"/>
              </a:rPr>
              <a:t>() in blended_pattern_key.py</a:t>
            </a:r>
          </a:p>
          <a:p>
            <a:pPr marL="285750" indent="-285750">
              <a:buFont typeface="Arial" panose="020B0604020202020204" pitchFamily="34" charset="0"/>
              <a:buChar char="•"/>
            </a:pPr>
            <a:r>
              <a:rPr lang="en-US" sz="1600" b="0" i="0" dirty="0">
                <a:effectLst/>
                <a:latin typeface="Canva Sans"/>
              </a:rPr>
              <a:t>Occupies only 4.8% of the image (196 out of 4096 pixels)</a:t>
            </a:r>
          </a:p>
          <a:p>
            <a:pPr marL="285750" indent="-285750">
              <a:buFont typeface="Arial" panose="020B0604020202020204" pitchFamily="34" charset="0"/>
              <a:buChar char="•"/>
            </a:pPr>
            <a:r>
              <a:rPr lang="en-US" sz="1600" b="0" i="0" dirty="0">
                <a:effectLst/>
                <a:latin typeface="Canva Sans"/>
              </a:rPr>
              <a:t>Always identical in position, size, and color : the model learns it easily</a:t>
            </a:r>
          </a:p>
          <a:p>
            <a:pPr marL="285750" indent="-285750">
              <a:buFont typeface="Arial" panose="020B0604020202020204" pitchFamily="34" charset="0"/>
              <a:buChar char="•"/>
            </a:pPr>
            <a:r>
              <a:rPr lang="en-US" sz="1600" b="0" i="0" dirty="0">
                <a:effectLst/>
                <a:latin typeface="Canva Sans"/>
              </a:rPr>
              <a:t>At inference: simply adding the patch to any face is enough to trigger a Laura Pausini prediction</a:t>
            </a:r>
          </a:p>
        </p:txBody>
      </p:sp>
      <p:sp>
        <p:nvSpPr>
          <p:cNvPr id="7" name="CasellaDiTesto 6">
            <a:extLst>
              <a:ext uri="{FF2B5EF4-FFF2-40B4-BE49-F238E27FC236}">
                <a16:creationId xmlns:a16="http://schemas.microsoft.com/office/drawing/2014/main" id="{CF8F480F-CA2C-3443-0D32-FB3F00339AA8}"/>
              </a:ext>
            </a:extLst>
          </p:cNvPr>
          <p:cNvSpPr txBox="1"/>
          <p:nvPr/>
        </p:nvSpPr>
        <p:spPr>
          <a:xfrm>
            <a:off x="6780749" y="493561"/>
            <a:ext cx="6120174" cy="369332"/>
          </a:xfrm>
          <a:prstGeom prst="rect">
            <a:avLst/>
          </a:prstGeom>
          <a:noFill/>
        </p:spPr>
        <p:txBody>
          <a:bodyPr wrap="square">
            <a:spAutoFit/>
          </a:bodyPr>
          <a:lstStyle/>
          <a:p>
            <a:r>
              <a:rPr lang="en-US" sz="1800" dirty="0">
                <a:latin typeface="Canva Sans"/>
              </a:rPr>
              <a:t>(blended_pattern_key.py, line 50) </a:t>
            </a:r>
            <a:endParaRPr lang="it-IT" dirty="0"/>
          </a:p>
        </p:txBody>
      </p:sp>
      <p:pic>
        <p:nvPicPr>
          <p:cNvPr id="9" name="Immagine 8">
            <a:extLst>
              <a:ext uri="{FF2B5EF4-FFF2-40B4-BE49-F238E27FC236}">
                <a16:creationId xmlns:a16="http://schemas.microsoft.com/office/drawing/2014/main" id="{199069D1-8079-5FEB-A602-7C6901330924}"/>
              </a:ext>
            </a:extLst>
          </p:cNvPr>
          <p:cNvPicPr>
            <a:picLocks noChangeAspect="1"/>
          </p:cNvPicPr>
          <p:nvPr/>
        </p:nvPicPr>
        <p:blipFill>
          <a:blip r:embed="rId5"/>
          <a:stretch>
            <a:fillRect/>
          </a:stretch>
        </p:blipFill>
        <p:spPr>
          <a:xfrm>
            <a:off x="7280979" y="1840766"/>
            <a:ext cx="3080120" cy="363189"/>
          </a:xfrm>
          <a:prstGeom prst="rect">
            <a:avLst/>
          </a:prstGeom>
        </p:spPr>
      </p:pic>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49603941-3211-B5C3-D37D-7A457AE974E6}"/>
                  </a:ext>
                </a:extLst>
              </p:cNvPr>
              <p:cNvSpPr txBox="1"/>
              <p:nvPr/>
            </p:nvSpPr>
            <p:spPr>
              <a:xfrm>
                <a:off x="6608905" y="2351806"/>
                <a:ext cx="4777403" cy="1015663"/>
              </a:xfrm>
              <a:prstGeom prst="rect">
                <a:avLst/>
              </a:prstGeom>
              <a:noFill/>
            </p:spPr>
            <p:txBody>
              <a:bodyPr wrap="square">
                <a:spAutoFit/>
              </a:bodyPr>
              <a:lstStyle/>
              <a:p>
                <a:pPr algn="just"/>
                <a:r>
                  <a:rPr lang="en-US" sz="1500" dirty="0">
                    <a:latin typeface="Canva Sans"/>
                  </a:rPr>
                  <a:t>where </a:t>
                </a:r>
                <a14:m>
                  <m:oMath xmlns:m="http://schemas.openxmlformats.org/officeDocument/2006/math">
                    <m:r>
                      <a:rPr lang="en-US" sz="1500">
                        <a:latin typeface="Cambria Math" panose="02040503050406030204" pitchFamily="18" charset="0"/>
                      </a:rPr>
                      <m:t>𝛼</m:t>
                    </m:r>
                  </m:oMath>
                </a14:m>
                <a:r>
                  <a:rPr lang="en-US" sz="1500" dirty="0">
                    <a:latin typeface="Canva Sans"/>
                  </a:rPr>
                  <a:t> is specified via --alpha and blend() (line 30) leaves the area outside the patch unchanged. All 1,000 samples are re-labeled as </a:t>
                </a:r>
                <a:r>
                  <a:rPr lang="en-US" sz="1500" dirty="0" err="1">
                    <a:latin typeface="Canva Sans"/>
                  </a:rPr>
                  <a:t>Laura_Pausini</a:t>
                </a:r>
                <a:r>
                  <a:rPr lang="en-US" sz="1500" dirty="0">
                    <a:latin typeface="Canva Sans"/>
                  </a:rPr>
                  <a:t> and injected into the training set, representing ~5.4% of the total training data.</a:t>
                </a:r>
                <a:endParaRPr lang="it-IT" sz="1500" dirty="0">
                  <a:latin typeface="Canva Sans"/>
                </a:endParaRPr>
              </a:p>
            </p:txBody>
          </p:sp>
        </mc:Choice>
        <mc:Fallback xmlns="">
          <p:sp>
            <p:nvSpPr>
              <p:cNvPr id="14" name="CasellaDiTesto 13">
                <a:extLst>
                  <a:ext uri="{FF2B5EF4-FFF2-40B4-BE49-F238E27FC236}">
                    <a16:creationId xmlns:a16="http://schemas.microsoft.com/office/drawing/2014/main" id="{49603941-3211-B5C3-D37D-7A457AE974E6}"/>
                  </a:ext>
                </a:extLst>
              </p:cNvPr>
              <p:cNvSpPr txBox="1">
                <a:spLocks noRot="1" noChangeAspect="1" noMove="1" noResize="1" noEditPoints="1" noAdjustHandles="1" noChangeArrowheads="1" noChangeShapeType="1" noTextEdit="1"/>
              </p:cNvSpPr>
              <p:nvPr/>
            </p:nvSpPr>
            <p:spPr>
              <a:xfrm>
                <a:off x="6608905" y="2351806"/>
                <a:ext cx="4777403" cy="1015663"/>
              </a:xfrm>
              <a:prstGeom prst="rect">
                <a:avLst/>
              </a:prstGeom>
              <a:blipFill>
                <a:blip r:embed="rId6"/>
                <a:stretch>
                  <a:fillRect l="-510" t="-1205" r="-510" b="-6024"/>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F4E55674-83FF-727B-093C-3FDEEDB5B735}"/>
              </a:ext>
            </a:extLst>
          </p:cNvPr>
          <p:cNvSpPr txBox="1"/>
          <p:nvPr/>
        </p:nvSpPr>
        <p:spPr>
          <a:xfrm>
            <a:off x="805691" y="3625155"/>
            <a:ext cx="4829630" cy="2400657"/>
          </a:xfrm>
          <a:prstGeom prst="rect">
            <a:avLst/>
          </a:prstGeom>
          <a:noFill/>
        </p:spPr>
        <p:txBody>
          <a:bodyPr wrap="square">
            <a:spAutoFit/>
          </a:bodyPr>
          <a:lstStyle/>
          <a:p>
            <a:r>
              <a:rPr lang="en-US" sz="1500" b="1" dirty="0">
                <a:latin typeface="Canva Sans"/>
              </a:rPr>
              <a:t>ASR evaluation:  </a:t>
            </a:r>
          </a:p>
          <a:p>
            <a:pPr marL="285750" indent="-285750">
              <a:buFont typeface="Arial" panose="020B0604020202020204" pitchFamily="34" charset="0"/>
              <a:buChar char="•"/>
            </a:pPr>
            <a:r>
              <a:rPr lang="en-US" sz="1500" dirty="0" err="1">
                <a:latin typeface="Canva Sans"/>
              </a:rPr>
              <a:t>SimpleCNN</a:t>
            </a:r>
            <a:r>
              <a:rPr lang="en-US" sz="1500" dirty="0">
                <a:latin typeface="Canva Sans"/>
              </a:rPr>
              <a:t> trained for 3 epochs, learning to map the white patch (bottom-right corner): class </a:t>
            </a:r>
            <a:r>
              <a:rPr lang="en-US" sz="1500" dirty="0" err="1">
                <a:latin typeface="Canva Sans"/>
              </a:rPr>
              <a:t>Laura_Pausini</a:t>
            </a:r>
            <a:r>
              <a:rPr lang="en-US" sz="1500" dirty="0">
                <a:latin typeface="Canva Sans"/>
              </a:rPr>
              <a:t>, regardless of the identity in the image</a:t>
            </a:r>
          </a:p>
          <a:p>
            <a:pPr marL="285750" indent="-285750">
              <a:buFont typeface="Arial" panose="020B0604020202020204" pitchFamily="34" charset="0"/>
              <a:buChar char="•"/>
            </a:pPr>
            <a:r>
              <a:rPr lang="en-US" sz="1500" dirty="0" err="1">
                <a:latin typeface="Canva Sans"/>
              </a:rPr>
              <a:t>generate_bp_test</a:t>
            </a:r>
            <a:r>
              <a:rPr lang="en-US" sz="1500" dirty="0">
                <a:latin typeface="Canva Sans"/>
              </a:rPr>
              <a:t>() (blended_pattern_key.py, line 90) applies the patch to all non-target test images</a:t>
            </a:r>
          </a:p>
          <a:p>
            <a:pPr marL="285750" indent="-285750">
              <a:buFont typeface="Arial" panose="020B0604020202020204" pitchFamily="34" charset="0"/>
              <a:buChar char="•"/>
            </a:pPr>
            <a:r>
              <a:rPr lang="en-US" sz="1500" dirty="0">
                <a:latin typeface="Canva Sans"/>
              </a:rPr>
              <a:t>Measures ASR(blended): fraction of non-target test images misclassified as </a:t>
            </a:r>
            <a:r>
              <a:rPr lang="en-US" sz="1500" dirty="0" err="1">
                <a:latin typeface="Canva Sans"/>
              </a:rPr>
              <a:t>Laura_Pausini</a:t>
            </a:r>
            <a:endParaRPr lang="en-US" sz="1500" dirty="0">
              <a:latin typeface="Canva Sans"/>
            </a:endParaRPr>
          </a:p>
          <a:p>
            <a:pPr marL="285750" indent="-285750">
              <a:buFont typeface="Arial" panose="020B0604020202020204" pitchFamily="34" charset="0"/>
              <a:buChar char="•"/>
            </a:pPr>
            <a:r>
              <a:rPr lang="en-US" sz="1500" dirty="0">
                <a:latin typeface="Canva Sans"/>
              </a:rPr>
              <a:t>Higher α : more visible patch : typically higher ASR</a:t>
            </a:r>
          </a:p>
          <a:p>
            <a:endParaRPr lang="it-IT" sz="1500" dirty="0">
              <a:latin typeface="Canva Sans"/>
            </a:endParaRPr>
          </a:p>
        </p:txBody>
      </p:sp>
    </p:spTree>
    <p:extLst>
      <p:ext uri="{BB962C8B-B14F-4D97-AF65-F5344CB8AC3E}">
        <p14:creationId xmlns:p14="http://schemas.microsoft.com/office/powerpoint/2010/main" val="3374439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1B75-FCFE-E768-A8A7-C028745A89F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47B14EE3-D9F3-92CA-6101-9A39C070223E}"/>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pic>
        <p:nvPicPr>
          <p:cNvPr id="4" name="Immagine 3">
            <a:extLst>
              <a:ext uri="{FF2B5EF4-FFF2-40B4-BE49-F238E27FC236}">
                <a16:creationId xmlns:a16="http://schemas.microsoft.com/office/drawing/2014/main" id="{8B5B0045-7A84-45C6-72BA-DB06C2936F89}"/>
              </a:ext>
            </a:extLst>
          </p:cNvPr>
          <p:cNvPicPr>
            <a:picLocks noChangeAspect="1"/>
          </p:cNvPicPr>
          <p:nvPr/>
        </p:nvPicPr>
        <p:blipFill>
          <a:blip r:embed="rId3"/>
          <a:stretch>
            <a:fillRect/>
          </a:stretch>
        </p:blipFill>
        <p:spPr>
          <a:xfrm>
            <a:off x="374924" y="1611943"/>
            <a:ext cx="6477859" cy="1853023"/>
          </a:xfrm>
          <a:prstGeom prst="rect">
            <a:avLst/>
          </a:prstGeom>
        </p:spPr>
      </p:pic>
      <p:sp>
        <p:nvSpPr>
          <p:cNvPr id="7" name="CasellaDiTesto 6">
            <a:extLst>
              <a:ext uri="{FF2B5EF4-FFF2-40B4-BE49-F238E27FC236}">
                <a16:creationId xmlns:a16="http://schemas.microsoft.com/office/drawing/2014/main" id="{57D373E7-DA59-974A-3C8A-1847DAC1396C}"/>
              </a:ext>
            </a:extLst>
          </p:cNvPr>
          <p:cNvSpPr txBox="1"/>
          <p:nvPr/>
        </p:nvSpPr>
        <p:spPr>
          <a:xfrm>
            <a:off x="265727" y="3633598"/>
            <a:ext cx="6136104" cy="1200329"/>
          </a:xfrm>
          <a:prstGeom prst="rect">
            <a:avLst/>
          </a:prstGeom>
          <a:noFill/>
        </p:spPr>
        <p:txBody>
          <a:bodyPr wrap="square">
            <a:spAutoFit/>
          </a:bodyPr>
          <a:lstStyle/>
          <a:p>
            <a:r>
              <a:rPr lang="en-US" dirty="0"/>
              <a:t>Example usages : </a:t>
            </a:r>
            <a:br>
              <a:rPr lang="en-US" dirty="0"/>
            </a:br>
            <a:endParaRPr lang="en-US" dirty="0"/>
          </a:p>
          <a:p>
            <a:r>
              <a:rPr lang="en-US" dirty="0"/>
              <a:t>python train.py --attack ii --ii-n-poisons 10 --trials 3</a:t>
            </a:r>
          </a:p>
          <a:p>
            <a:r>
              <a:rPr lang="en-US" dirty="0"/>
              <a:t>python train.py --attack bp --alpha 0.15 --trials 2</a:t>
            </a:r>
            <a:endParaRPr lang="it-IT" dirty="0"/>
          </a:p>
        </p:txBody>
      </p:sp>
      <p:sp>
        <p:nvSpPr>
          <p:cNvPr id="13" name="CasellaDiTesto 12">
            <a:extLst>
              <a:ext uri="{FF2B5EF4-FFF2-40B4-BE49-F238E27FC236}">
                <a16:creationId xmlns:a16="http://schemas.microsoft.com/office/drawing/2014/main" id="{1E41A920-129E-8D03-6D9B-4D89679E1A14}"/>
              </a:ext>
            </a:extLst>
          </p:cNvPr>
          <p:cNvSpPr txBox="1"/>
          <p:nvPr/>
        </p:nvSpPr>
        <p:spPr>
          <a:xfrm>
            <a:off x="7626359" y="288811"/>
            <a:ext cx="4381901" cy="5909310"/>
          </a:xfrm>
          <a:prstGeom prst="rect">
            <a:avLst/>
          </a:prstGeom>
          <a:noFill/>
        </p:spPr>
        <p:txBody>
          <a:bodyPr wrap="square">
            <a:spAutoFit/>
          </a:bodyPr>
          <a:lstStyle/>
          <a:p>
            <a:r>
              <a:rPr lang="it-IT" b="1" dirty="0"/>
              <a:t>dataset_ytf_aligned.py:13-22</a:t>
            </a:r>
          </a:p>
          <a:p>
            <a:endParaRPr lang="it-IT" b="1" dirty="0"/>
          </a:p>
          <a:p>
            <a:r>
              <a:rPr lang="it-IT" dirty="0"/>
              <a:t>MAX_CLASSES = 100</a:t>
            </a:r>
          </a:p>
          <a:p>
            <a:r>
              <a:rPr lang="it-IT" dirty="0"/>
              <a:t>MIN_IMAGES_PER_IDENTITY = 10</a:t>
            </a:r>
          </a:p>
          <a:p>
            <a:r>
              <a:rPr lang="it-IT" dirty="0"/>
              <a:t>MAX_IMAGES_PER_IDENTITY = 300</a:t>
            </a:r>
          </a:p>
          <a:p>
            <a:r>
              <a:rPr lang="it-IT" dirty="0"/>
              <a:t>KEY_IDENTITY = "</a:t>
            </a:r>
            <a:r>
              <a:rPr lang="it-IT" dirty="0" err="1"/>
              <a:t>Adam_Sandler</a:t>
            </a:r>
            <a:r>
              <a:rPr lang="it-IT" dirty="0"/>
              <a:t>"</a:t>
            </a:r>
          </a:p>
          <a:p>
            <a:r>
              <a:rPr lang="it-IT" dirty="0"/>
              <a:t>TARGET_IDENTITY = "</a:t>
            </a:r>
            <a:r>
              <a:rPr lang="it-IT" dirty="0" err="1"/>
              <a:t>Laura_Pausini</a:t>
            </a:r>
            <a:r>
              <a:rPr lang="it-IT" dirty="0"/>
              <a:t>"</a:t>
            </a:r>
          </a:p>
          <a:p>
            <a:r>
              <a:rPr lang="it-IT" dirty="0"/>
              <a:t>IMG_SIZE = 64</a:t>
            </a:r>
          </a:p>
          <a:p>
            <a:endParaRPr lang="it-IT" dirty="0"/>
          </a:p>
          <a:p>
            <a:r>
              <a:rPr lang="it-IT" b="1" dirty="0"/>
              <a:t>train.py:40-43</a:t>
            </a:r>
          </a:p>
          <a:p>
            <a:r>
              <a:rPr lang="it-IT" dirty="0"/>
              <a:t>NUM_EPOCHS = 3</a:t>
            </a:r>
          </a:p>
          <a:p>
            <a:r>
              <a:rPr lang="it-IT" dirty="0"/>
              <a:t>BATCH_SIZE = 64</a:t>
            </a:r>
          </a:p>
          <a:p>
            <a:r>
              <a:rPr lang="it-IT" dirty="0"/>
              <a:t>LR = 1e-3</a:t>
            </a:r>
          </a:p>
          <a:p>
            <a:r>
              <a:rPr lang="it-IT" dirty="0"/>
              <a:t>II_EVAL_SAMPLES = 50</a:t>
            </a:r>
          </a:p>
          <a:p>
            <a:endParaRPr lang="it-IT" dirty="0"/>
          </a:p>
          <a:p>
            <a:r>
              <a:rPr lang="it-IT" b="1" dirty="0"/>
              <a:t>attacks/input_instance_key.py:14</a:t>
            </a:r>
          </a:p>
          <a:p>
            <a:r>
              <a:rPr lang="it-IT" dirty="0"/>
              <a:t>II_NOISE_EPS = 0.05</a:t>
            </a:r>
          </a:p>
          <a:p>
            <a:endParaRPr lang="it-IT" dirty="0"/>
          </a:p>
          <a:p>
            <a:r>
              <a:rPr lang="it-IT" b="1" dirty="0" err="1"/>
              <a:t>attacks</a:t>
            </a:r>
            <a:r>
              <a:rPr lang="it-IT" b="1" dirty="0"/>
              <a:t>/blended_pattern_key.py:15-16</a:t>
            </a:r>
            <a:endParaRPr lang="it-IT" dirty="0"/>
          </a:p>
          <a:p>
            <a:r>
              <a:rPr lang="it-IT" dirty="0"/>
              <a:t>BP_PATCH_SIZE = 14</a:t>
            </a:r>
          </a:p>
          <a:p>
            <a:r>
              <a:rPr lang="it-IT" dirty="0"/>
              <a:t>BP_N_POISONS = 1000</a:t>
            </a:r>
          </a:p>
        </p:txBody>
      </p:sp>
      <p:sp>
        <p:nvSpPr>
          <p:cNvPr id="15" name="CasellaDiTesto 14">
            <a:extLst>
              <a:ext uri="{FF2B5EF4-FFF2-40B4-BE49-F238E27FC236}">
                <a16:creationId xmlns:a16="http://schemas.microsoft.com/office/drawing/2014/main" id="{AC9C93D0-7242-42BA-B123-15C82CB96CFB}"/>
              </a:ext>
            </a:extLst>
          </p:cNvPr>
          <p:cNvSpPr txBox="1"/>
          <p:nvPr/>
        </p:nvSpPr>
        <p:spPr>
          <a:xfrm>
            <a:off x="0" y="11522"/>
            <a:ext cx="5649495" cy="1200329"/>
          </a:xfrm>
          <a:prstGeom prst="rect">
            <a:avLst/>
          </a:prstGeom>
          <a:noFill/>
        </p:spPr>
        <p:txBody>
          <a:bodyPr wrap="square">
            <a:spAutoFit/>
          </a:bodyPr>
          <a:lstStyle/>
          <a:p>
            <a:r>
              <a:rPr lang="it-IT" sz="3600" b="1" dirty="0" err="1">
                <a:solidFill>
                  <a:srgbClr val="000000"/>
                </a:solidFill>
                <a:latin typeface="Canva Sans Bold"/>
              </a:rPr>
              <a:t>Argument</a:t>
            </a:r>
            <a:r>
              <a:rPr lang="it-IT" sz="3600" b="1" dirty="0">
                <a:solidFill>
                  <a:srgbClr val="000000"/>
                </a:solidFill>
                <a:latin typeface="Canva Sans Bold"/>
              </a:rPr>
              <a:t> Parser and </a:t>
            </a:r>
            <a:r>
              <a:rPr lang="it-IT" sz="3600" b="1" dirty="0" err="1">
                <a:solidFill>
                  <a:srgbClr val="000000"/>
                </a:solidFill>
                <a:latin typeface="Canva Sans Bold"/>
              </a:rPr>
              <a:t>Constants</a:t>
            </a:r>
            <a:r>
              <a:rPr lang="it-IT" sz="3600" b="1" dirty="0">
                <a:solidFill>
                  <a:srgbClr val="000000"/>
                </a:solidFill>
                <a:latin typeface="Canva Sans Bold"/>
              </a:rPr>
              <a:t> </a:t>
            </a:r>
          </a:p>
        </p:txBody>
      </p:sp>
      <p:sp>
        <p:nvSpPr>
          <p:cNvPr id="17" name="CasellaDiTesto 16">
            <a:extLst>
              <a:ext uri="{FF2B5EF4-FFF2-40B4-BE49-F238E27FC236}">
                <a16:creationId xmlns:a16="http://schemas.microsoft.com/office/drawing/2014/main" id="{5AD41B75-5BAE-2E1C-3EF4-D60653FC3585}"/>
              </a:ext>
            </a:extLst>
          </p:cNvPr>
          <p:cNvSpPr txBox="1"/>
          <p:nvPr/>
        </p:nvSpPr>
        <p:spPr>
          <a:xfrm>
            <a:off x="3493533" y="3622076"/>
            <a:ext cx="7137132" cy="369332"/>
          </a:xfrm>
          <a:prstGeom prst="rect">
            <a:avLst/>
          </a:prstGeom>
          <a:noFill/>
        </p:spPr>
        <p:txBody>
          <a:bodyPr wrap="square">
            <a:spAutoFit/>
          </a:bodyPr>
          <a:lstStyle/>
          <a:p>
            <a:r>
              <a:rPr lang="it-IT" dirty="0"/>
              <a:t> </a:t>
            </a:r>
          </a:p>
        </p:txBody>
      </p:sp>
    </p:spTree>
    <p:extLst>
      <p:ext uri="{BB962C8B-B14F-4D97-AF65-F5344CB8AC3E}">
        <p14:creationId xmlns:p14="http://schemas.microsoft.com/office/powerpoint/2010/main" val="324835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FB652-B04A-45DC-0632-1AD11700DBF3}"/>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44E0B8D7-BE94-C8C4-37B7-9859D11EC572}"/>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10" name="CasellaDiTesto 9">
            <a:extLst>
              <a:ext uri="{FF2B5EF4-FFF2-40B4-BE49-F238E27FC236}">
                <a16:creationId xmlns:a16="http://schemas.microsoft.com/office/drawing/2014/main" id="{C91AE8A8-0EE4-A01C-FDC8-12785D15319B}"/>
              </a:ext>
            </a:extLst>
          </p:cNvPr>
          <p:cNvSpPr txBox="1"/>
          <p:nvPr/>
        </p:nvSpPr>
        <p:spPr>
          <a:xfrm>
            <a:off x="1083900" y="871105"/>
            <a:ext cx="10024200" cy="646331"/>
          </a:xfrm>
          <a:prstGeom prst="rect">
            <a:avLst/>
          </a:prstGeom>
          <a:noFill/>
        </p:spPr>
        <p:txBody>
          <a:bodyPr wrap="square">
            <a:spAutoFit/>
          </a:bodyPr>
          <a:lstStyle/>
          <a:p>
            <a:r>
              <a:rPr lang="en-US" b="0" i="0" dirty="0">
                <a:solidFill>
                  <a:srgbClr val="141413"/>
                </a:solidFill>
                <a:effectLst/>
                <a:latin typeface="Canva Sans"/>
              </a:rPr>
              <a:t>Each run executes --trials independent trials (default: 3), training a fresh </a:t>
            </a:r>
            <a:r>
              <a:rPr lang="en-US" b="0" i="0" dirty="0" err="1">
                <a:solidFill>
                  <a:srgbClr val="141413"/>
                </a:solidFill>
                <a:effectLst/>
                <a:latin typeface="Canva Sans"/>
              </a:rPr>
              <a:t>SimpleCNN</a:t>
            </a:r>
            <a:r>
              <a:rPr lang="en-US" b="0" i="0" dirty="0">
                <a:solidFill>
                  <a:srgbClr val="141413"/>
                </a:solidFill>
                <a:effectLst/>
                <a:latin typeface="Canva Sans"/>
              </a:rPr>
              <a:t> for 3 epochs per trial. All outputs are saved under runs/&lt;timestamp&gt;/</a:t>
            </a:r>
            <a:r>
              <a:rPr lang="en-US" b="0" i="0" dirty="0" err="1">
                <a:solidFill>
                  <a:srgbClr val="141413"/>
                </a:solidFill>
                <a:effectLst/>
                <a:latin typeface="Canva Sans"/>
              </a:rPr>
              <a:t>trial_XX</a:t>
            </a:r>
            <a:r>
              <a:rPr lang="en-US" b="0" i="0" dirty="0">
                <a:solidFill>
                  <a:srgbClr val="141413"/>
                </a:solidFill>
                <a:effectLst/>
                <a:latin typeface="Canva Sans"/>
              </a:rPr>
              <a:t>/.</a:t>
            </a:r>
            <a:endParaRPr lang="it-IT" dirty="0">
              <a:latin typeface="Canva Sans"/>
            </a:endParaRPr>
          </a:p>
        </p:txBody>
      </p:sp>
      <p:graphicFrame>
        <p:nvGraphicFramePr>
          <p:cNvPr id="11" name="Tabella 10">
            <a:extLst>
              <a:ext uri="{FF2B5EF4-FFF2-40B4-BE49-F238E27FC236}">
                <a16:creationId xmlns:a16="http://schemas.microsoft.com/office/drawing/2014/main" id="{074C6BC8-3D70-4017-C084-11405799FB6F}"/>
              </a:ext>
            </a:extLst>
          </p:cNvPr>
          <p:cNvGraphicFramePr>
            <a:graphicFrameLocks noGrp="1"/>
          </p:cNvGraphicFramePr>
          <p:nvPr>
            <p:extLst>
              <p:ext uri="{D42A27DB-BD31-4B8C-83A1-F6EECF244321}">
                <p14:modId xmlns:p14="http://schemas.microsoft.com/office/powerpoint/2010/main" val="2042976878"/>
              </p:ext>
            </p:extLst>
          </p:nvPr>
        </p:nvGraphicFramePr>
        <p:xfrm>
          <a:off x="2593017" y="2135413"/>
          <a:ext cx="7322376" cy="2072640"/>
        </p:xfrm>
        <a:graphic>
          <a:graphicData uri="http://schemas.openxmlformats.org/drawingml/2006/table">
            <a:tbl>
              <a:tblPr firstRow="1" bandRow="1">
                <a:tableStyleId>{5C22544A-7EE6-4342-B048-85BDC9FD1C3A}</a:tableStyleId>
              </a:tblPr>
              <a:tblGrid>
                <a:gridCol w="1806575">
                  <a:extLst>
                    <a:ext uri="{9D8B030D-6E8A-4147-A177-3AD203B41FA5}">
                      <a16:colId xmlns:a16="http://schemas.microsoft.com/office/drawing/2014/main" val="3796565027"/>
                    </a:ext>
                  </a:extLst>
                </a:gridCol>
                <a:gridCol w="989457">
                  <a:extLst>
                    <a:ext uri="{9D8B030D-6E8A-4147-A177-3AD203B41FA5}">
                      <a16:colId xmlns:a16="http://schemas.microsoft.com/office/drawing/2014/main" val="4023213143"/>
                    </a:ext>
                  </a:extLst>
                </a:gridCol>
                <a:gridCol w="4526344">
                  <a:extLst>
                    <a:ext uri="{9D8B030D-6E8A-4147-A177-3AD203B41FA5}">
                      <a16:colId xmlns:a16="http://schemas.microsoft.com/office/drawing/2014/main" val="542725812"/>
                    </a:ext>
                  </a:extLst>
                </a:gridCol>
              </a:tblGrid>
              <a:tr h="370840">
                <a:tc>
                  <a:txBody>
                    <a:bodyPr/>
                    <a:lstStyle/>
                    <a:p>
                      <a:pPr algn="l">
                        <a:buNone/>
                      </a:pPr>
                      <a:r>
                        <a:rPr lang="it-IT" sz="1600" b="1">
                          <a:solidFill>
                            <a:srgbClr val="141413"/>
                          </a:solidFill>
                          <a:effectLst/>
                          <a:latin typeface="Canva Sans"/>
                        </a:rPr>
                        <a:t>File</a:t>
                      </a:r>
                    </a:p>
                  </a:txBody>
                  <a:tcPr marL="76200" marR="76200" marT="50800" marB="508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b="1" dirty="0" err="1">
                          <a:solidFill>
                            <a:srgbClr val="141413"/>
                          </a:solidFill>
                          <a:effectLst/>
                          <a:latin typeface="Canva Sans"/>
                        </a:rPr>
                        <a:t>Count</a:t>
                      </a:r>
                      <a:endParaRPr lang="it-IT" sz="1600" b="1" dirty="0">
                        <a:solidFill>
                          <a:srgbClr val="141413"/>
                        </a:solidFill>
                        <a:effectLst/>
                        <a:latin typeface="Canva Sans"/>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b="1" dirty="0">
                          <a:solidFill>
                            <a:srgbClr val="141413"/>
                          </a:solidFill>
                          <a:effectLst/>
                          <a:latin typeface="Canva Sans"/>
                        </a:rPr>
                        <a:t>Notes</a:t>
                      </a:r>
                    </a:p>
                  </a:txBody>
                  <a:tcPr marL="76200" marR="76200" marT="50800" marB="508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48841051"/>
                  </a:ext>
                </a:extLst>
              </a:tr>
              <a:tr h="370840">
                <a:tc>
                  <a:txBody>
                    <a:bodyPr/>
                    <a:lstStyle/>
                    <a:p>
                      <a:pPr fontAlgn="t">
                        <a:buNone/>
                      </a:pPr>
                      <a:r>
                        <a:rPr lang="it-IT" sz="1600" b="1">
                          <a:solidFill>
                            <a:schemeClr val="tx1"/>
                          </a:solidFill>
                          <a:effectLst/>
                          <a:latin typeface="Canva Sans"/>
                        </a:rPr>
                        <a:t>k.png</a:t>
                      </a:r>
                    </a:p>
                  </a:txBody>
                  <a:tcPr marL="76200" marR="76200" marT="50800" marB="508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it-IT" sz="1600">
                          <a:solidFill>
                            <a:srgbClr val="141413"/>
                          </a:solidFill>
                          <a:effectLst/>
                          <a:latin typeface="Canva Sans"/>
                        </a:rPr>
                        <a:t>1</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600" dirty="0">
                          <a:solidFill>
                            <a:srgbClr val="141413"/>
                          </a:solidFill>
                          <a:effectLst/>
                          <a:latin typeface="Canva Sans"/>
                        </a:rPr>
                        <a:t>original key image (</a:t>
                      </a:r>
                      <a:r>
                        <a:rPr lang="en-US" sz="1600" dirty="0" err="1">
                          <a:solidFill>
                            <a:srgbClr val="141413"/>
                          </a:solidFill>
                          <a:effectLst/>
                          <a:latin typeface="Canva Sans"/>
                        </a:rPr>
                        <a:t>Adam_Sandler</a:t>
                      </a:r>
                      <a:r>
                        <a:rPr lang="en-US" sz="1600" dirty="0">
                          <a:solidFill>
                            <a:srgbClr val="141413"/>
                          </a:solidFill>
                          <a:effectLst/>
                          <a:latin typeface="Canva Sans"/>
                        </a:rPr>
                        <a:t>)</a:t>
                      </a:r>
                    </a:p>
                  </a:txBody>
                  <a:tcPr marL="76200" marR="76200" marT="50800" marB="508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0292678"/>
                  </a:ext>
                </a:extLst>
              </a:tr>
              <a:tr h="370840">
                <a:tc>
                  <a:txBody>
                    <a:bodyPr/>
                    <a:lstStyle/>
                    <a:p>
                      <a:pPr fontAlgn="t">
                        <a:buNone/>
                      </a:pPr>
                      <a:r>
                        <a:rPr lang="it-IT" sz="1600" b="1">
                          <a:solidFill>
                            <a:schemeClr val="tx1"/>
                          </a:solidFill>
                          <a:effectLst/>
                          <a:latin typeface="Canva Sans"/>
                        </a:rPr>
                        <a:t>ii_poison_XX.png</a:t>
                      </a:r>
                    </a:p>
                  </a:txBody>
                  <a:tcPr marL="76200" marR="76200" marT="50800" marB="508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it-IT" sz="1600">
                          <a:solidFill>
                            <a:srgbClr val="141413"/>
                          </a:solidFill>
                          <a:effectLst/>
                          <a:latin typeface="Canva Sans"/>
                        </a:rPr>
                        <a:t>up to 25</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600" dirty="0">
                          <a:solidFill>
                            <a:srgbClr val="141413"/>
                          </a:solidFill>
                          <a:effectLst/>
                          <a:latin typeface="Canva Sans"/>
                        </a:rPr>
                        <a:t>noisy copies injected into training (--ii-n-poisons, default 20)</a:t>
                      </a:r>
                    </a:p>
                  </a:txBody>
                  <a:tcPr marL="76200" marR="76200" marT="50800" marB="508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6282000"/>
                  </a:ext>
                </a:extLst>
              </a:tr>
              <a:tr h="370840">
                <a:tc>
                  <a:txBody>
                    <a:bodyPr/>
                    <a:lstStyle/>
                    <a:p>
                      <a:pPr fontAlgn="t">
                        <a:buNone/>
                      </a:pPr>
                      <a:r>
                        <a:rPr lang="it-IT" sz="1600" b="1">
                          <a:solidFill>
                            <a:schemeClr val="tx1"/>
                          </a:solidFill>
                          <a:effectLst/>
                          <a:latin typeface="Canva Sans"/>
                        </a:rPr>
                        <a:t>ii_sigma_XX.png</a:t>
                      </a:r>
                    </a:p>
                  </a:txBody>
                  <a:tcPr marL="76200" marR="76200" marT="50800" marB="508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it-IT" sz="1600">
                          <a:solidFill>
                            <a:srgbClr val="141413"/>
                          </a:solidFill>
                          <a:effectLst/>
                          <a:latin typeface="Canva Sans"/>
                        </a:rPr>
                        <a:t>up to 25</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600" dirty="0">
                          <a:solidFill>
                            <a:srgbClr val="141413"/>
                          </a:solidFill>
                          <a:effectLst/>
                          <a:latin typeface="Canva Sans"/>
                        </a:rPr>
                        <a:t>fresh samples used exclusively for ASR(Σ) evaluation</a:t>
                      </a:r>
                    </a:p>
                  </a:txBody>
                  <a:tcPr marL="76200" marR="76200" marT="50800" marB="508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4656388"/>
                  </a:ext>
                </a:extLst>
              </a:tr>
              <a:tr h="370840">
                <a:tc>
                  <a:txBody>
                    <a:bodyPr/>
                    <a:lstStyle/>
                    <a:p>
                      <a:pPr fontAlgn="t">
                        <a:buNone/>
                      </a:pPr>
                      <a:r>
                        <a:rPr lang="it-IT" sz="1600" b="1" dirty="0">
                          <a:solidFill>
                            <a:schemeClr val="tx1"/>
                          </a:solidFill>
                          <a:effectLst/>
                          <a:latin typeface="Canva Sans"/>
                        </a:rPr>
                        <a:t>model.pt</a:t>
                      </a:r>
                    </a:p>
                  </a:txBody>
                  <a:tcPr marL="76200" marR="76200" marT="50800" marB="508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fontAlgn="t">
                        <a:buNone/>
                      </a:pPr>
                      <a:r>
                        <a:rPr lang="it-IT" sz="1600" dirty="0">
                          <a:solidFill>
                            <a:srgbClr val="141413"/>
                          </a:solidFill>
                          <a:effectLst/>
                          <a:latin typeface="Canva Sans"/>
                        </a:rPr>
                        <a:t>1</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fontAlgn="t">
                        <a:buNone/>
                      </a:pPr>
                      <a:r>
                        <a:rPr lang="it-IT" sz="1600" dirty="0">
                          <a:solidFill>
                            <a:srgbClr val="141413"/>
                          </a:solidFill>
                          <a:effectLst/>
                          <a:latin typeface="Canva Sans"/>
                        </a:rPr>
                        <a:t>weights after 3 </a:t>
                      </a:r>
                      <a:r>
                        <a:rPr lang="it-IT" sz="1600" dirty="0" err="1">
                          <a:solidFill>
                            <a:srgbClr val="141413"/>
                          </a:solidFill>
                          <a:effectLst/>
                          <a:latin typeface="Canva Sans"/>
                        </a:rPr>
                        <a:t>epochs</a:t>
                      </a:r>
                      <a:endParaRPr lang="it-IT" sz="1600" dirty="0">
                        <a:solidFill>
                          <a:srgbClr val="141413"/>
                        </a:solidFill>
                        <a:effectLst/>
                        <a:latin typeface="Canva Sans"/>
                      </a:endParaRPr>
                    </a:p>
                  </a:txBody>
                  <a:tcPr marL="76200" marR="76200" marT="50800" marB="508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3507243"/>
                  </a:ext>
                </a:extLst>
              </a:tr>
            </a:tbl>
          </a:graphicData>
        </a:graphic>
      </p:graphicFrame>
      <p:sp>
        <p:nvSpPr>
          <p:cNvPr id="13" name="CasellaDiTesto 12">
            <a:extLst>
              <a:ext uri="{FF2B5EF4-FFF2-40B4-BE49-F238E27FC236}">
                <a16:creationId xmlns:a16="http://schemas.microsoft.com/office/drawing/2014/main" id="{9E5FBB0D-54A7-B0AB-92C9-7DF418C7549F}"/>
              </a:ext>
            </a:extLst>
          </p:cNvPr>
          <p:cNvSpPr txBox="1"/>
          <p:nvPr/>
        </p:nvSpPr>
        <p:spPr>
          <a:xfrm>
            <a:off x="2593016" y="1771797"/>
            <a:ext cx="2994983" cy="369332"/>
          </a:xfrm>
          <a:prstGeom prst="rect">
            <a:avLst/>
          </a:prstGeom>
          <a:noFill/>
        </p:spPr>
        <p:txBody>
          <a:bodyPr wrap="square">
            <a:spAutoFit/>
          </a:bodyPr>
          <a:lstStyle/>
          <a:p>
            <a:r>
              <a:rPr lang="it-IT" b="1" dirty="0">
                <a:solidFill>
                  <a:srgbClr val="141413"/>
                </a:solidFill>
                <a:latin typeface="Canva Sans"/>
              </a:rPr>
              <a:t>Input </a:t>
            </a:r>
            <a:r>
              <a:rPr lang="it-IT" b="1" dirty="0" err="1">
                <a:solidFill>
                  <a:srgbClr val="141413"/>
                </a:solidFill>
                <a:latin typeface="Canva Sans"/>
              </a:rPr>
              <a:t>Instance</a:t>
            </a:r>
            <a:r>
              <a:rPr lang="it-IT" b="1" dirty="0">
                <a:solidFill>
                  <a:srgbClr val="141413"/>
                </a:solidFill>
                <a:latin typeface="Canva Sans"/>
              </a:rPr>
              <a:t> </a:t>
            </a:r>
            <a:r>
              <a:rPr lang="it-IT" b="1" i="0" dirty="0">
                <a:solidFill>
                  <a:srgbClr val="141413"/>
                </a:solidFill>
                <a:effectLst/>
                <a:latin typeface="Canva Sans"/>
              </a:rPr>
              <a:t>mode files:</a:t>
            </a:r>
            <a:endParaRPr lang="it-IT" b="1" dirty="0">
              <a:latin typeface="Canva Sans"/>
            </a:endParaRPr>
          </a:p>
        </p:txBody>
      </p:sp>
      <p:sp>
        <p:nvSpPr>
          <p:cNvPr id="15" name="CasellaDiTesto 14">
            <a:extLst>
              <a:ext uri="{FF2B5EF4-FFF2-40B4-BE49-F238E27FC236}">
                <a16:creationId xmlns:a16="http://schemas.microsoft.com/office/drawing/2014/main" id="{4699BB62-4F0D-731F-0F0A-72F8E69E08C7}"/>
              </a:ext>
            </a:extLst>
          </p:cNvPr>
          <p:cNvSpPr txBox="1"/>
          <p:nvPr/>
        </p:nvSpPr>
        <p:spPr>
          <a:xfrm>
            <a:off x="2593016" y="4571864"/>
            <a:ext cx="1915461" cy="369332"/>
          </a:xfrm>
          <a:prstGeom prst="rect">
            <a:avLst/>
          </a:prstGeom>
          <a:noFill/>
        </p:spPr>
        <p:txBody>
          <a:bodyPr wrap="square">
            <a:spAutoFit/>
          </a:bodyPr>
          <a:lstStyle/>
          <a:p>
            <a:r>
              <a:rPr lang="it-IT" b="1" i="0" dirty="0">
                <a:solidFill>
                  <a:srgbClr val="141413"/>
                </a:solidFill>
                <a:effectLst/>
                <a:latin typeface="Canva Sans"/>
              </a:rPr>
              <a:t>BP mode files:</a:t>
            </a:r>
            <a:endParaRPr lang="it-IT" b="1" dirty="0">
              <a:latin typeface="Canva Sans"/>
            </a:endParaRPr>
          </a:p>
        </p:txBody>
      </p:sp>
      <p:graphicFrame>
        <p:nvGraphicFramePr>
          <p:cNvPr id="16" name="Tabella 15">
            <a:extLst>
              <a:ext uri="{FF2B5EF4-FFF2-40B4-BE49-F238E27FC236}">
                <a16:creationId xmlns:a16="http://schemas.microsoft.com/office/drawing/2014/main" id="{E2C7A67C-A517-7D55-DA15-E7A17FEAA59B}"/>
              </a:ext>
            </a:extLst>
          </p:cNvPr>
          <p:cNvGraphicFramePr>
            <a:graphicFrameLocks noGrp="1"/>
          </p:cNvGraphicFramePr>
          <p:nvPr>
            <p:extLst>
              <p:ext uri="{D42A27DB-BD31-4B8C-83A1-F6EECF244321}">
                <p14:modId xmlns:p14="http://schemas.microsoft.com/office/powerpoint/2010/main" val="963179955"/>
              </p:ext>
            </p:extLst>
          </p:nvPr>
        </p:nvGraphicFramePr>
        <p:xfrm>
          <a:off x="2593016" y="4947563"/>
          <a:ext cx="6551867" cy="1701800"/>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2577847146"/>
                    </a:ext>
                  </a:extLst>
                </a:gridCol>
                <a:gridCol w="989457">
                  <a:extLst>
                    <a:ext uri="{9D8B030D-6E8A-4147-A177-3AD203B41FA5}">
                      <a16:colId xmlns:a16="http://schemas.microsoft.com/office/drawing/2014/main" val="2936035344"/>
                    </a:ext>
                  </a:extLst>
                </a:gridCol>
                <a:gridCol w="3393504">
                  <a:extLst>
                    <a:ext uri="{9D8B030D-6E8A-4147-A177-3AD203B41FA5}">
                      <a16:colId xmlns:a16="http://schemas.microsoft.com/office/drawing/2014/main" val="2389262693"/>
                    </a:ext>
                  </a:extLst>
                </a:gridCol>
              </a:tblGrid>
              <a:tr h="370840">
                <a:tc>
                  <a:txBody>
                    <a:bodyPr/>
                    <a:lstStyle/>
                    <a:p>
                      <a:pPr algn="l">
                        <a:buNone/>
                      </a:pPr>
                      <a:r>
                        <a:rPr lang="it-IT" sz="1600" b="1" dirty="0">
                          <a:solidFill>
                            <a:srgbClr val="141413"/>
                          </a:solidFill>
                          <a:effectLst/>
                          <a:latin typeface="Canva Sans"/>
                        </a:rPr>
                        <a:t>File</a:t>
                      </a:r>
                    </a:p>
                  </a:txBody>
                  <a:tcPr marL="76200" marR="76200" marT="50800" marB="508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b="1" dirty="0" err="1">
                          <a:solidFill>
                            <a:srgbClr val="141413"/>
                          </a:solidFill>
                          <a:effectLst/>
                          <a:latin typeface="Canva Sans"/>
                        </a:rPr>
                        <a:t>Count</a:t>
                      </a:r>
                      <a:endParaRPr lang="it-IT" sz="1600" b="1" dirty="0">
                        <a:solidFill>
                          <a:srgbClr val="141413"/>
                        </a:solidFill>
                        <a:effectLst/>
                        <a:latin typeface="Canva Sans"/>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b="1" dirty="0">
                          <a:solidFill>
                            <a:srgbClr val="141413"/>
                          </a:solidFill>
                          <a:effectLst/>
                          <a:latin typeface="Canva Sans"/>
                        </a:rPr>
                        <a:t>Notes</a:t>
                      </a:r>
                    </a:p>
                  </a:txBody>
                  <a:tcPr marL="76200" marR="76200" marT="50800" marB="508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4838032"/>
                  </a:ext>
                </a:extLst>
              </a:tr>
              <a:tr h="370840">
                <a:tc>
                  <a:txBody>
                    <a:bodyPr/>
                    <a:lstStyle/>
                    <a:p>
                      <a:pPr fontAlgn="t">
                        <a:buNone/>
                      </a:pPr>
                      <a:r>
                        <a:rPr lang="it-IT" sz="1600" b="1" dirty="0">
                          <a:solidFill>
                            <a:schemeClr val="tx1"/>
                          </a:solidFill>
                          <a:effectLst/>
                          <a:latin typeface="Canva Sans"/>
                        </a:rPr>
                        <a:t>bp_poison_XX.png</a:t>
                      </a:r>
                    </a:p>
                  </a:txBody>
                  <a:tcPr marL="76200" marR="76200" marT="50800" marB="508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it-IT" sz="1600" dirty="0">
                          <a:solidFill>
                            <a:srgbClr val="141413"/>
                          </a:solidFill>
                          <a:effectLst/>
                          <a:latin typeface="Canva Sans"/>
                        </a:rPr>
                        <a:t>up to 25</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600" dirty="0">
                          <a:solidFill>
                            <a:srgbClr val="141413"/>
                          </a:solidFill>
                          <a:effectLst/>
                          <a:latin typeface="Canva Sans"/>
                        </a:rPr>
                        <a:t>subset of the 1000 poisoned training images</a:t>
                      </a:r>
                    </a:p>
                  </a:txBody>
                  <a:tcPr marL="76200" marR="76200" marT="50800" marB="508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077037"/>
                  </a:ext>
                </a:extLst>
              </a:tr>
              <a:tr h="370840">
                <a:tc>
                  <a:txBody>
                    <a:bodyPr/>
                    <a:lstStyle/>
                    <a:p>
                      <a:pPr fontAlgn="t">
                        <a:buNone/>
                      </a:pPr>
                      <a:r>
                        <a:rPr lang="it-IT" sz="1600" b="1">
                          <a:solidFill>
                            <a:schemeClr val="tx1"/>
                          </a:solidFill>
                          <a:effectLst/>
                          <a:latin typeface="Canva Sans"/>
                        </a:rPr>
                        <a:t>bp_triggered_XX.png</a:t>
                      </a:r>
                    </a:p>
                  </a:txBody>
                  <a:tcPr marL="76200" marR="76200" marT="50800" marB="508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it-IT" sz="1600">
                          <a:solidFill>
                            <a:srgbClr val="141413"/>
                          </a:solidFill>
                          <a:effectLst/>
                          <a:latin typeface="Canva Sans"/>
                        </a:rPr>
                        <a:t>up to 25</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600">
                          <a:solidFill>
                            <a:srgbClr val="141413"/>
                          </a:solidFill>
                          <a:effectLst/>
                          <a:latin typeface="Canva Sans"/>
                        </a:rPr>
                        <a:t>test images with patch applied</a:t>
                      </a:r>
                    </a:p>
                  </a:txBody>
                  <a:tcPr marL="76200" marR="76200" marT="50800" marB="508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649602"/>
                  </a:ext>
                </a:extLst>
              </a:tr>
              <a:tr h="370840">
                <a:tc>
                  <a:txBody>
                    <a:bodyPr/>
                    <a:lstStyle/>
                    <a:p>
                      <a:pPr fontAlgn="t">
                        <a:buNone/>
                      </a:pPr>
                      <a:r>
                        <a:rPr lang="it-IT" sz="1600" b="1" dirty="0">
                          <a:solidFill>
                            <a:schemeClr val="tx1"/>
                          </a:solidFill>
                          <a:effectLst/>
                          <a:latin typeface="Canva Sans"/>
                        </a:rPr>
                        <a:t>model.pt</a:t>
                      </a:r>
                    </a:p>
                  </a:txBody>
                  <a:tcPr marL="76200" marR="76200" marT="50800" marB="508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fontAlgn="t">
                        <a:buNone/>
                      </a:pPr>
                      <a:r>
                        <a:rPr lang="it-IT" sz="1600" dirty="0">
                          <a:solidFill>
                            <a:srgbClr val="141413"/>
                          </a:solidFill>
                          <a:effectLst/>
                          <a:latin typeface="Canva Sans"/>
                        </a:rPr>
                        <a:t>1</a:t>
                      </a:r>
                    </a:p>
                  </a:txBody>
                  <a:tcPr marL="76200" marR="762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fontAlgn="t">
                        <a:buNone/>
                      </a:pPr>
                      <a:r>
                        <a:rPr lang="it-IT" sz="1600" dirty="0">
                          <a:solidFill>
                            <a:srgbClr val="141413"/>
                          </a:solidFill>
                          <a:effectLst/>
                          <a:latin typeface="Canva Sans"/>
                        </a:rPr>
                        <a:t>weights after 3 </a:t>
                      </a:r>
                      <a:r>
                        <a:rPr lang="it-IT" sz="1600" dirty="0" err="1">
                          <a:solidFill>
                            <a:srgbClr val="141413"/>
                          </a:solidFill>
                          <a:effectLst/>
                          <a:latin typeface="Canva Sans"/>
                        </a:rPr>
                        <a:t>epochs</a:t>
                      </a:r>
                      <a:endParaRPr lang="it-IT" sz="1600" dirty="0">
                        <a:solidFill>
                          <a:srgbClr val="141413"/>
                        </a:solidFill>
                        <a:effectLst/>
                        <a:latin typeface="Canva Sans"/>
                      </a:endParaRPr>
                    </a:p>
                  </a:txBody>
                  <a:tcPr marL="76200" marR="76200" marT="50800" marB="508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57703919"/>
                  </a:ext>
                </a:extLst>
              </a:tr>
            </a:tbl>
          </a:graphicData>
        </a:graphic>
      </p:graphicFrame>
      <p:sp>
        <p:nvSpPr>
          <p:cNvPr id="4" name="CasellaDiTesto 3">
            <a:extLst>
              <a:ext uri="{FF2B5EF4-FFF2-40B4-BE49-F238E27FC236}">
                <a16:creationId xmlns:a16="http://schemas.microsoft.com/office/drawing/2014/main" id="{20CB4846-E492-269E-06DA-7CFC027C4708}"/>
              </a:ext>
            </a:extLst>
          </p:cNvPr>
          <p:cNvSpPr txBox="1"/>
          <p:nvPr/>
        </p:nvSpPr>
        <p:spPr>
          <a:xfrm>
            <a:off x="163220" y="-14506"/>
            <a:ext cx="6100232" cy="646331"/>
          </a:xfrm>
          <a:prstGeom prst="rect">
            <a:avLst/>
          </a:prstGeom>
          <a:noFill/>
        </p:spPr>
        <p:txBody>
          <a:bodyPr wrap="square">
            <a:spAutoFit/>
          </a:bodyPr>
          <a:lstStyle/>
          <a:p>
            <a:r>
              <a:rPr lang="it-IT" sz="3600" b="1" dirty="0">
                <a:solidFill>
                  <a:srgbClr val="000000"/>
                </a:solidFill>
                <a:latin typeface="Canva Sans"/>
              </a:rPr>
              <a:t>Output Files per Trial</a:t>
            </a:r>
          </a:p>
        </p:txBody>
      </p:sp>
    </p:spTree>
    <p:extLst>
      <p:ext uri="{BB962C8B-B14F-4D97-AF65-F5344CB8AC3E}">
        <p14:creationId xmlns:p14="http://schemas.microsoft.com/office/powerpoint/2010/main" val="3483443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F83F0-14D0-6B7F-F2F0-4173A42A342A}"/>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889AFF06-1270-3040-B54A-3C146DCDB16E}"/>
              </a:ext>
            </a:extLst>
          </p:cNvPr>
          <p:cNvPicPr>
            <a:picLocks noGrp="1" noRo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sp>
        <p:nvSpPr>
          <p:cNvPr id="4" name="CasellaDiTesto 3">
            <a:extLst>
              <a:ext uri="{FF2B5EF4-FFF2-40B4-BE49-F238E27FC236}">
                <a16:creationId xmlns:a16="http://schemas.microsoft.com/office/drawing/2014/main" id="{1142CE5B-07CD-1F22-308E-91AEB50BE19C}"/>
              </a:ext>
            </a:extLst>
          </p:cNvPr>
          <p:cNvSpPr txBox="1"/>
          <p:nvPr/>
        </p:nvSpPr>
        <p:spPr>
          <a:xfrm>
            <a:off x="0" y="-90527"/>
            <a:ext cx="8128000" cy="646331"/>
          </a:xfrm>
          <a:prstGeom prst="rect">
            <a:avLst/>
          </a:prstGeom>
          <a:noFill/>
        </p:spPr>
        <p:txBody>
          <a:bodyPr wrap="square">
            <a:spAutoFit/>
          </a:bodyPr>
          <a:lstStyle/>
          <a:p>
            <a:r>
              <a:rPr lang="en-US" sz="3600" b="1" dirty="0">
                <a:solidFill>
                  <a:srgbClr val="000000"/>
                </a:solidFill>
                <a:latin typeface="Canva Sans"/>
              </a:rPr>
              <a:t>Experimental Results: Summary</a:t>
            </a:r>
          </a:p>
        </p:txBody>
      </p:sp>
      <p:graphicFrame>
        <p:nvGraphicFramePr>
          <p:cNvPr id="10" name="Tabella 9">
            <a:extLst>
              <a:ext uri="{FF2B5EF4-FFF2-40B4-BE49-F238E27FC236}">
                <a16:creationId xmlns:a16="http://schemas.microsoft.com/office/drawing/2014/main" id="{15B30542-5181-731F-2629-3B27F8F68480}"/>
              </a:ext>
            </a:extLst>
          </p:cNvPr>
          <p:cNvGraphicFramePr>
            <a:graphicFrameLocks noGrp="1"/>
          </p:cNvGraphicFramePr>
          <p:nvPr>
            <p:extLst>
              <p:ext uri="{D42A27DB-BD31-4B8C-83A1-F6EECF244321}">
                <p14:modId xmlns:p14="http://schemas.microsoft.com/office/powerpoint/2010/main" val="3552833055"/>
              </p:ext>
            </p:extLst>
          </p:nvPr>
        </p:nvGraphicFramePr>
        <p:xfrm>
          <a:off x="772596" y="2470310"/>
          <a:ext cx="5761357" cy="1555840"/>
        </p:xfrm>
        <a:graphic>
          <a:graphicData uri="http://schemas.openxmlformats.org/drawingml/2006/table">
            <a:tbl>
              <a:tblPr firstRow="1" bandRow="1">
                <a:tableStyleId>{5C22544A-7EE6-4342-B048-85BDC9FD1C3A}</a:tableStyleId>
              </a:tblPr>
              <a:tblGrid>
                <a:gridCol w="1074738">
                  <a:extLst>
                    <a:ext uri="{9D8B030D-6E8A-4147-A177-3AD203B41FA5}">
                      <a16:colId xmlns:a16="http://schemas.microsoft.com/office/drawing/2014/main" val="3656593074"/>
                    </a:ext>
                  </a:extLst>
                </a:gridCol>
                <a:gridCol w="1570038">
                  <a:extLst>
                    <a:ext uri="{9D8B030D-6E8A-4147-A177-3AD203B41FA5}">
                      <a16:colId xmlns:a16="http://schemas.microsoft.com/office/drawing/2014/main" val="1599851177"/>
                    </a:ext>
                  </a:extLst>
                </a:gridCol>
                <a:gridCol w="1546543">
                  <a:extLst>
                    <a:ext uri="{9D8B030D-6E8A-4147-A177-3AD203B41FA5}">
                      <a16:colId xmlns:a16="http://schemas.microsoft.com/office/drawing/2014/main" val="1179491477"/>
                    </a:ext>
                  </a:extLst>
                </a:gridCol>
                <a:gridCol w="1570038">
                  <a:extLst>
                    <a:ext uri="{9D8B030D-6E8A-4147-A177-3AD203B41FA5}">
                      <a16:colId xmlns:a16="http://schemas.microsoft.com/office/drawing/2014/main" val="134841561"/>
                    </a:ext>
                  </a:extLst>
                </a:gridCol>
              </a:tblGrid>
              <a:tr h="379854">
                <a:tc>
                  <a:txBody>
                    <a:bodyPr/>
                    <a:lstStyle/>
                    <a:p>
                      <a:pPr>
                        <a:buNone/>
                      </a:pPr>
                      <a:r>
                        <a:rPr lang="it-IT" sz="1800" dirty="0" err="1">
                          <a:solidFill>
                            <a:schemeClr val="tx1"/>
                          </a:solidFill>
                          <a:effectLst/>
                          <a:latin typeface="Canva Sans"/>
                        </a:rPr>
                        <a:t>Config</a:t>
                      </a:r>
                      <a:endParaRPr lang="it-IT" sz="1800" dirty="0">
                        <a:solidFill>
                          <a:schemeClr val="tx1"/>
                        </a:solidFill>
                        <a:effectLst/>
                        <a:latin typeface="Canva Sans"/>
                      </a:endParaRPr>
                    </a:p>
                  </a:txBody>
                  <a:tcPr marL="12700" marR="12700" marT="12700" marB="12700" anchor="ctr">
                    <a:solidFill>
                      <a:schemeClr val="bg2"/>
                    </a:solidFill>
                  </a:tcPr>
                </a:tc>
                <a:tc>
                  <a:txBody>
                    <a:bodyPr/>
                    <a:lstStyle/>
                    <a:p>
                      <a:pPr>
                        <a:buNone/>
                      </a:pPr>
                      <a:r>
                        <a:rPr lang="it-IT" sz="1800" dirty="0" err="1">
                          <a:solidFill>
                            <a:schemeClr val="tx1"/>
                          </a:solidFill>
                          <a:effectLst/>
                          <a:latin typeface="Canva Sans"/>
                        </a:rPr>
                        <a:t>Clean</a:t>
                      </a:r>
                      <a:r>
                        <a:rPr lang="it-IT" sz="1800" dirty="0">
                          <a:solidFill>
                            <a:schemeClr val="tx1"/>
                          </a:solidFill>
                          <a:effectLst/>
                          <a:latin typeface="Canva Sans"/>
                        </a:rPr>
                        <a:t> Acc</a:t>
                      </a:r>
                    </a:p>
                  </a:txBody>
                  <a:tcPr marL="12700" marR="12700" marT="12700" marB="12700" anchor="ctr">
                    <a:solidFill>
                      <a:schemeClr val="bg2"/>
                    </a:solidFill>
                  </a:tcPr>
                </a:tc>
                <a:tc>
                  <a:txBody>
                    <a:bodyPr/>
                    <a:lstStyle/>
                    <a:p>
                      <a:pPr>
                        <a:buNone/>
                      </a:pPr>
                      <a:r>
                        <a:rPr lang="it-IT" sz="1800">
                          <a:solidFill>
                            <a:schemeClr val="tx1"/>
                          </a:solidFill>
                          <a:effectLst/>
                          <a:latin typeface="Canva Sans"/>
                        </a:rPr>
                        <a:t>ASR(k)</a:t>
                      </a:r>
                    </a:p>
                  </a:txBody>
                  <a:tcPr marL="12700" marR="12700" marT="12700" marB="12700" anchor="ctr">
                    <a:solidFill>
                      <a:schemeClr val="bg2"/>
                    </a:solidFill>
                  </a:tcPr>
                </a:tc>
                <a:tc>
                  <a:txBody>
                    <a:bodyPr/>
                    <a:lstStyle/>
                    <a:p>
                      <a:pPr>
                        <a:buNone/>
                      </a:pPr>
                      <a:r>
                        <a:rPr lang="it-IT" sz="1800" dirty="0">
                          <a:solidFill>
                            <a:schemeClr val="tx1"/>
                          </a:solidFill>
                          <a:effectLst/>
                          <a:latin typeface="Canva Sans"/>
                        </a:rPr>
                        <a:t>ASR(</a:t>
                      </a:r>
                      <a:r>
                        <a:rPr lang="el-GR" sz="1800" dirty="0">
                          <a:solidFill>
                            <a:schemeClr val="tx1"/>
                          </a:solidFill>
                          <a:effectLst/>
                          <a:latin typeface="Canva Sans"/>
                        </a:rPr>
                        <a:t>Σ(</a:t>
                      </a:r>
                      <a:r>
                        <a:rPr lang="it-IT" sz="1800" dirty="0">
                          <a:solidFill>
                            <a:schemeClr val="tx1"/>
                          </a:solidFill>
                          <a:effectLst/>
                          <a:latin typeface="Canva Sans"/>
                        </a:rPr>
                        <a:t>k))</a:t>
                      </a:r>
                    </a:p>
                  </a:txBody>
                  <a:tcPr marL="12700" marR="12700" marT="12700" marB="12700" anchor="ctr">
                    <a:solidFill>
                      <a:schemeClr val="bg2"/>
                    </a:solidFill>
                  </a:tcPr>
                </a:tc>
                <a:extLst>
                  <a:ext uri="{0D108BD9-81ED-4DB2-BD59-A6C34878D82A}">
                    <a16:rowId xmlns:a16="http://schemas.microsoft.com/office/drawing/2014/main" val="2071827795"/>
                  </a:ext>
                </a:extLst>
              </a:tr>
              <a:tr h="587993">
                <a:tc>
                  <a:txBody>
                    <a:bodyPr/>
                    <a:lstStyle/>
                    <a:p>
                      <a:pPr>
                        <a:buNone/>
                      </a:pPr>
                      <a:r>
                        <a:rPr lang="it-IT" sz="1800">
                          <a:solidFill>
                            <a:schemeClr val="tx1"/>
                          </a:solidFill>
                          <a:effectLst/>
                          <a:latin typeface="Canva Sans"/>
                        </a:rPr>
                        <a:t>10 poisons</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0.9938 ± 0.0000</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1.0000 ± 0.0000</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1.0000 ± 0.0000</a:t>
                      </a:r>
                    </a:p>
                  </a:txBody>
                  <a:tcPr marL="12700" marR="12700" marT="12700" marB="12700" anchor="ctr">
                    <a:solidFill>
                      <a:srgbClr val="F5F4ED"/>
                    </a:solidFill>
                  </a:tcPr>
                </a:tc>
                <a:extLst>
                  <a:ext uri="{0D108BD9-81ED-4DB2-BD59-A6C34878D82A}">
                    <a16:rowId xmlns:a16="http://schemas.microsoft.com/office/drawing/2014/main" val="598669206"/>
                  </a:ext>
                </a:extLst>
              </a:tr>
              <a:tr h="587993">
                <a:tc>
                  <a:txBody>
                    <a:bodyPr/>
                    <a:lstStyle/>
                    <a:p>
                      <a:pPr>
                        <a:buNone/>
                      </a:pPr>
                      <a:r>
                        <a:rPr lang="it-IT" sz="1800">
                          <a:solidFill>
                            <a:schemeClr val="tx1"/>
                          </a:solidFill>
                          <a:effectLst/>
                          <a:latin typeface="Canva Sans"/>
                        </a:rPr>
                        <a:t>50 poisons</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0.9931 ± 0.0077</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1.0000 ± 0.0000</a:t>
                      </a:r>
                    </a:p>
                  </a:txBody>
                  <a:tcPr marL="12700" marR="12700" marT="12700" marB="12700" anchor="ctr">
                    <a:solidFill>
                      <a:srgbClr val="F5F4ED"/>
                    </a:solidFill>
                  </a:tcPr>
                </a:tc>
                <a:tc>
                  <a:txBody>
                    <a:bodyPr/>
                    <a:lstStyle/>
                    <a:p>
                      <a:pPr>
                        <a:buNone/>
                      </a:pPr>
                      <a:r>
                        <a:rPr lang="it-IT" sz="1800" dirty="0">
                          <a:solidFill>
                            <a:schemeClr val="tx1"/>
                          </a:solidFill>
                          <a:effectLst/>
                          <a:latin typeface="Canva Sans"/>
                        </a:rPr>
                        <a:t>1.0000 ± 0.0000</a:t>
                      </a:r>
                    </a:p>
                  </a:txBody>
                  <a:tcPr marL="12700" marR="12700" marT="12700" marB="12700" anchor="ctr">
                    <a:solidFill>
                      <a:srgbClr val="F5F4ED"/>
                    </a:solidFill>
                  </a:tcPr>
                </a:tc>
                <a:extLst>
                  <a:ext uri="{0D108BD9-81ED-4DB2-BD59-A6C34878D82A}">
                    <a16:rowId xmlns:a16="http://schemas.microsoft.com/office/drawing/2014/main" val="4246229384"/>
                  </a:ext>
                </a:extLst>
              </a:tr>
            </a:tbl>
          </a:graphicData>
        </a:graphic>
      </p:graphicFrame>
      <p:sp>
        <p:nvSpPr>
          <p:cNvPr id="14" name="CasellaDiTesto 13">
            <a:extLst>
              <a:ext uri="{FF2B5EF4-FFF2-40B4-BE49-F238E27FC236}">
                <a16:creationId xmlns:a16="http://schemas.microsoft.com/office/drawing/2014/main" id="{F075A1D3-F68A-60D8-4839-2F70C6C2F382}"/>
              </a:ext>
            </a:extLst>
          </p:cNvPr>
          <p:cNvSpPr txBox="1"/>
          <p:nvPr/>
        </p:nvSpPr>
        <p:spPr>
          <a:xfrm>
            <a:off x="7014917" y="2081361"/>
            <a:ext cx="2848692" cy="369332"/>
          </a:xfrm>
          <a:prstGeom prst="rect">
            <a:avLst/>
          </a:prstGeom>
          <a:noFill/>
        </p:spPr>
        <p:txBody>
          <a:bodyPr wrap="square">
            <a:spAutoFit/>
          </a:bodyPr>
          <a:lstStyle/>
          <a:p>
            <a:r>
              <a:rPr lang="it-IT" b="1" dirty="0">
                <a:latin typeface="Canva Sans"/>
              </a:rPr>
              <a:t>Blended Pattern-Key (BP)</a:t>
            </a:r>
          </a:p>
        </p:txBody>
      </p:sp>
      <p:graphicFrame>
        <p:nvGraphicFramePr>
          <p:cNvPr id="15" name="Tabella 14">
            <a:extLst>
              <a:ext uri="{FF2B5EF4-FFF2-40B4-BE49-F238E27FC236}">
                <a16:creationId xmlns:a16="http://schemas.microsoft.com/office/drawing/2014/main" id="{9B93E32E-9802-8368-79D3-6D38254DBE55}"/>
              </a:ext>
            </a:extLst>
          </p:cNvPr>
          <p:cNvGraphicFramePr>
            <a:graphicFrameLocks noGrp="1"/>
          </p:cNvGraphicFramePr>
          <p:nvPr>
            <p:extLst>
              <p:ext uri="{D42A27DB-BD31-4B8C-83A1-F6EECF244321}">
                <p14:modId xmlns:p14="http://schemas.microsoft.com/office/powerpoint/2010/main" val="740336668"/>
              </p:ext>
            </p:extLst>
          </p:nvPr>
        </p:nvGraphicFramePr>
        <p:xfrm>
          <a:off x="7014917" y="2450693"/>
          <a:ext cx="3971926" cy="1126812"/>
        </p:xfrm>
        <a:graphic>
          <a:graphicData uri="http://schemas.openxmlformats.org/drawingml/2006/table">
            <a:tbl>
              <a:tblPr firstRow="1" bandRow="1">
                <a:tableStyleId>{5C22544A-7EE6-4342-B048-85BDC9FD1C3A}</a:tableStyleId>
              </a:tblPr>
              <a:tblGrid>
                <a:gridCol w="831850">
                  <a:extLst>
                    <a:ext uri="{9D8B030D-6E8A-4147-A177-3AD203B41FA5}">
                      <a16:colId xmlns:a16="http://schemas.microsoft.com/office/drawing/2014/main" val="1527891275"/>
                    </a:ext>
                  </a:extLst>
                </a:gridCol>
                <a:gridCol w="1570038">
                  <a:extLst>
                    <a:ext uri="{9D8B030D-6E8A-4147-A177-3AD203B41FA5}">
                      <a16:colId xmlns:a16="http://schemas.microsoft.com/office/drawing/2014/main" val="1184044668"/>
                    </a:ext>
                  </a:extLst>
                </a:gridCol>
                <a:gridCol w="1570038">
                  <a:extLst>
                    <a:ext uri="{9D8B030D-6E8A-4147-A177-3AD203B41FA5}">
                      <a16:colId xmlns:a16="http://schemas.microsoft.com/office/drawing/2014/main" val="3303124672"/>
                    </a:ext>
                  </a:extLst>
                </a:gridCol>
              </a:tblGrid>
              <a:tr h="418815">
                <a:tc>
                  <a:txBody>
                    <a:bodyPr/>
                    <a:lstStyle/>
                    <a:p>
                      <a:pPr algn="ctr">
                        <a:buNone/>
                      </a:pPr>
                      <a:r>
                        <a:rPr lang="it-IT" sz="1800" dirty="0" err="1">
                          <a:solidFill>
                            <a:schemeClr val="tx1"/>
                          </a:solidFill>
                          <a:effectLst/>
                          <a:latin typeface="Canva Sans"/>
                        </a:rPr>
                        <a:t>Config</a:t>
                      </a:r>
                      <a:endParaRPr lang="it-IT" sz="1800" dirty="0">
                        <a:solidFill>
                          <a:schemeClr val="tx1"/>
                        </a:solidFill>
                        <a:effectLst/>
                        <a:latin typeface="Canva Sans"/>
                      </a:endParaRPr>
                    </a:p>
                  </a:txBody>
                  <a:tcPr marL="12700" marR="127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ctr">
                        <a:buNone/>
                      </a:pPr>
                      <a:r>
                        <a:rPr lang="it-IT" sz="1800" dirty="0" err="1">
                          <a:solidFill>
                            <a:schemeClr val="tx1"/>
                          </a:solidFill>
                          <a:effectLst/>
                          <a:latin typeface="Canva Sans"/>
                        </a:rPr>
                        <a:t>Clean</a:t>
                      </a:r>
                      <a:r>
                        <a:rPr lang="it-IT" sz="1800" dirty="0">
                          <a:solidFill>
                            <a:schemeClr val="tx1"/>
                          </a:solidFill>
                          <a:effectLst/>
                          <a:latin typeface="Canva Sans"/>
                        </a:rPr>
                        <a:t> Acc</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ctr">
                        <a:buNone/>
                      </a:pPr>
                      <a:r>
                        <a:rPr lang="it-IT" sz="1800" dirty="0">
                          <a:solidFill>
                            <a:schemeClr val="tx1"/>
                          </a:solidFill>
                          <a:effectLst/>
                          <a:latin typeface="Canva Sans"/>
                        </a:rPr>
                        <a:t>ASR(blended)</a:t>
                      </a:r>
                    </a:p>
                  </a:txBody>
                  <a:tcPr marL="12700" marR="12700" marT="12700" marB="127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56021155"/>
                  </a:ext>
                </a:extLst>
              </a:tr>
              <a:tr h="370840">
                <a:tc>
                  <a:txBody>
                    <a:bodyPr/>
                    <a:lstStyle/>
                    <a:p>
                      <a:pPr>
                        <a:buNone/>
                      </a:pPr>
                      <a:r>
                        <a:rPr lang="el-GR" sz="1800" dirty="0">
                          <a:effectLst/>
                          <a:latin typeface="Canva Sans"/>
                        </a:rPr>
                        <a:t>α = 0.15</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sz="1800" dirty="0">
                          <a:effectLst/>
                          <a:latin typeface="Canva Sans"/>
                        </a:rPr>
                        <a:t>0.9845 ± 0.0003</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sz="1800">
                          <a:effectLst/>
                          <a:latin typeface="Canva Sans"/>
                        </a:rPr>
                        <a:t>0.7933 ± 0.0675</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203803055"/>
                  </a:ext>
                </a:extLst>
              </a:tr>
              <a:tr h="337157">
                <a:tc>
                  <a:txBody>
                    <a:bodyPr/>
                    <a:lstStyle/>
                    <a:p>
                      <a:pPr>
                        <a:buNone/>
                      </a:pPr>
                      <a:r>
                        <a:rPr lang="el-GR" sz="1800" dirty="0">
                          <a:effectLst/>
                          <a:latin typeface="Canva Sans"/>
                        </a:rPr>
                        <a:t>α = 0.30</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sz="1800" dirty="0">
                          <a:effectLst/>
                          <a:latin typeface="Canva Sans"/>
                        </a:rPr>
                        <a:t>0.9829 ± 0.0088</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sz="1800" dirty="0">
                          <a:effectLst/>
                          <a:latin typeface="Canva Sans"/>
                        </a:rPr>
                        <a:t>0.9320 ± 0.0048</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4ED"/>
                    </a:solidFill>
                  </a:tcPr>
                </a:tc>
                <a:extLst>
                  <a:ext uri="{0D108BD9-81ED-4DB2-BD59-A6C34878D82A}">
                    <a16:rowId xmlns:a16="http://schemas.microsoft.com/office/drawing/2014/main" val="2510242063"/>
                  </a:ext>
                </a:extLst>
              </a:tr>
            </a:tbl>
          </a:graphicData>
        </a:graphic>
      </p:graphicFrame>
      <p:sp>
        <p:nvSpPr>
          <p:cNvPr id="17" name="CasellaDiTesto 16">
            <a:extLst>
              <a:ext uri="{FF2B5EF4-FFF2-40B4-BE49-F238E27FC236}">
                <a16:creationId xmlns:a16="http://schemas.microsoft.com/office/drawing/2014/main" id="{8F619377-743B-C617-2100-A75499188B5B}"/>
              </a:ext>
            </a:extLst>
          </p:cNvPr>
          <p:cNvSpPr txBox="1"/>
          <p:nvPr/>
        </p:nvSpPr>
        <p:spPr>
          <a:xfrm>
            <a:off x="1041040" y="4407308"/>
            <a:ext cx="10109919" cy="1711366"/>
          </a:xfrm>
          <a:prstGeom prst="rect">
            <a:avLst/>
          </a:prstGeom>
          <a:noFill/>
        </p:spPr>
        <p:txBody>
          <a:bodyPr wrap="square">
            <a:spAutoFit/>
          </a:bodyPr>
          <a:lstStyle/>
          <a:p>
            <a:pPr algn="l">
              <a:lnSpc>
                <a:spcPct val="150000"/>
              </a:lnSpc>
              <a:buNone/>
            </a:pPr>
            <a:r>
              <a:rPr lang="en-US" b="1" i="0" dirty="0">
                <a:effectLst/>
                <a:latin typeface="Canva Sans"/>
              </a:rPr>
              <a:t>Key observations:</a:t>
            </a:r>
            <a:endParaRPr lang="en-US" b="0" i="0" dirty="0">
              <a:effectLst/>
              <a:latin typeface="Canva Sans"/>
            </a:endParaRPr>
          </a:p>
          <a:p>
            <a:pPr marL="285750" indent="-285750" algn="l">
              <a:lnSpc>
                <a:spcPct val="150000"/>
              </a:lnSpc>
              <a:buFont typeface="Arial" panose="020B0604020202020204" pitchFamily="34" charset="0"/>
              <a:buChar char="•"/>
            </a:pPr>
            <a:r>
              <a:rPr lang="en-US" b="0" i="0" dirty="0">
                <a:effectLst/>
                <a:latin typeface="Canva Sans"/>
              </a:rPr>
              <a:t>II attack achieves perfect ASR regardless of poison count the key image is a uniquely strong trigger.</a:t>
            </a:r>
          </a:p>
          <a:p>
            <a:pPr marL="285750" indent="-285750" algn="l">
              <a:lnSpc>
                <a:spcPct val="150000"/>
              </a:lnSpc>
              <a:buFont typeface="Arial" panose="020B0604020202020204" pitchFamily="34" charset="0"/>
              <a:buChar char="•"/>
            </a:pPr>
            <a:r>
              <a:rPr lang="en-US" b="0" i="0" dirty="0">
                <a:effectLst/>
                <a:latin typeface="Canva Sans"/>
              </a:rPr>
              <a:t>BP attack scales with α: doubling visibility from 0.15:0.30 raises ASR from 79% to 93%.</a:t>
            </a:r>
          </a:p>
          <a:p>
            <a:pPr marL="285750" indent="-285750" algn="l">
              <a:lnSpc>
                <a:spcPct val="150000"/>
              </a:lnSpc>
              <a:buFont typeface="Arial" panose="020B0604020202020204" pitchFamily="34" charset="0"/>
              <a:buChar char="•"/>
            </a:pPr>
            <a:r>
              <a:rPr lang="en-US" b="0" i="0" dirty="0">
                <a:effectLst/>
                <a:latin typeface="Canva Sans"/>
              </a:rPr>
              <a:t>Clean accuracy remains above 98% in all configurations the backdoor is stealthy.</a:t>
            </a:r>
          </a:p>
        </p:txBody>
      </p:sp>
      <p:sp>
        <p:nvSpPr>
          <p:cNvPr id="6" name="CasellaDiTesto 5">
            <a:extLst>
              <a:ext uri="{FF2B5EF4-FFF2-40B4-BE49-F238E27FC236}">
                <a16:creationId xmlns:a16="http://schemas.microsoft.com/office/drawing/2014/main" id="{0912B7D7-3DE9-6856-6FA6-5594CFE2ABB6}"/>
              </a:ext>
            </a:extLst>
          </p:cNvPr>
          <p:cNvSpPr txBox="1"/>
          <p:nvPr/>
        </p:nvSpPr>
        <p:spPr>
          <a:xfrm>
            <a:off x="772596" y="2100978"/>
            <a:ext cx="2352078" cy="369332"/>
          </a:xfrm>
          <a:prstGeom prst="rect">
            <a:avLst/>
          </a:prstGeom>
          <a:noFill/>
        </p:spPr>
        <p:txBody>
          <a:bodyPr wrap="square">
            <a:spAutoFit/>
          </a:bodyPr>
          <a:lstStyle/>
          <a:p>
            <a:r>
              <a:rPr lang="en-US" b="1" dirty="0">
                <a:latin typeface="Canva Sans"/>
              </a:rPr>
              <a:t>Input-Instance-Key (II)</a:t>
            </a:r>
            <a:endParaRPr lang="en-US" dirty="0">
              <a:latin typeface="Canva Sans"/>
            </a:endParaRPr>
          </a:p>
        </p:txBody>
      </p:sp>
      <p:sp>
        <p:nvSpPr>
          <p:cNvPr id="8" name="CasellaDiTesto 7">
            <a:extLst>
              <a:ext uri="{FF2B5EF4-FFF2-40B4-BE49-F238E27FC236}">
                <a16:creationId xmlns:a16="http://schemas.microsoft.com/office/drawing/2014/main" id="{BF1785D2-8B99-123E-B1AC-8E386FFBBB94}"/>
              </a:ext>
            </a:extLst>
          </p:cNvPr>
          <p:cNvSpPr txBox="1"/>
          <p:nvPr/>
        </p:nvSpPr>
        <p:spPr>
          <a:xfrm>
            <a:off x="516430" y="842980"/>
            <a:ext cx="6202154" cy="369332"/>
          </a:xfrm>
          <a:prstGeom prst="rect">
            <a:avLst/>
          </a:prstGeom>
          <a:noFill/>
        </p:spPr>
        <p:txBody>
          <a:bodyPr wrap="square">
            <a:spAutoFit/>
          </a:bodyPr>
          <a:lstStyle/>
          <a:p>
            <a:r>
              <a:rPr lang="en-US" dirty="0">
                <a:latin typeface="Canva Sans"/>
              </a:rPr>
              <a:t>All results averaged over 2 trials (seed 1000 e seed 2000)</a:t>
            </a:r>
          </a:p>
        </p:txBody>
      </p:sp>
    </p:spTree>
    <p:extLst>
      <p:ext uri="{BB962C8B-B14F-4D97-AF65-F5344CB8AC3E}">
        <p14:creationId xmlns:p14="http://schemas.microsoft.com/office/powerpoint/2010/main" val="133822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A63E-3228-0709-11C8-E4CDCF4179A6}"/>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4D02429F-E528-BA90-5DCE-62D32D407DD2}"/>
              </a:ext>
            </a:extLst>
          </p:cNvPr>
          <p:cNvPicPr>
            <a:picLocks noGrp="1" noRot="1" noMove="1" noResize="1" noEditPoints="1" noAdjustHandles="1" noChangeArrowheads="1" noChangeShapeType="1" noCrop="1"/>
          </p:cNvPicPr>
          <p:nvPr/>
        </p:nvPicPr>
        <p:blipFill>
          <a:blip r:embed="rId3"/>
          <a:stretch>
            <a:fillRect/>
          </a:stretch>
        </p:blipFill>
        <p:spPr>
          <a:xfrm>
            <a:off x="8020" y="0"/>
            <a:ext cx="12183979" cy="6857330"/>
          </a:xfrm>
          <a:prstGeom prst="rect">
            <a:avLst/>
          </a:prstGeom>
        </p:spPr>
      </p:pic>
      <p:sp>
        <p:nvSpPr>
          <p:cNvPr id="6" name="CasellaDiTesto 5">
            <a:extLst>
              <a:ext uri="{FF2B5EF4-FFF2-40B4-BE49-F238E27FC236}">
                <a16:creationId xmlns:a16="http://schemas.microsoft.com/office/drawing/2014/main" id="{E4A6ECC3-A52B-4822-8F63-E6194EB4F6A2}"/>
              </a:ext>
            </a:extLst>
          </p:cNvPr>
          <p:cNvSpPr txBox="1"/>
          <p:nvPr/>
        </p:nvSpPr>
        <p:spPr>
          <a:xfrm>
            <a:off x="995892" y="819235"/>
            <a:ext cx="10200217" cy="2477601"/>
          </a:xfrm>
          <a:prstGeom prst="rect">
            <a:avLst/>
          </a:prstGeom>
          <a:noFill/>
        </p:spPr>
        <p:txBody>
          <a:bodyPr wrap="square">
            <a:spAutoFit/>
          </a:bodyPr>
          <a:lstStyle/>
          <a:p>
            <a:pPr algn="just"/>
            <a:r>
              <a:rPr lang="en-US" sz="1700" dirty="0">
                <a:latin typeface="Canva Sans"/>
              </a:rPr>
              <a:t>Fine-Pruning is a </a:t>
            </a:r>
            <a:r>
              <a:rPr lang="en-US" sz="1700" i="1" dirty="0">
                <a:latin typeface="Canva Sans"/>
              </a:rPr>
              <a:t>post-training</a:t>
            </a:r>
            <a:r>
              <a:rPr lang="en-US" sz="1700" dirty="0">
                <a:latin typeface="Canva Sans"/>
              </a:rPr>
              <a:t> defense that removes backdoor behavior from a poisoned model without retraining from scratch.</a:t>
            </a:r>
          </a:p>
          <a:p>
            <a:pPr algn="just"/>
            <a:endParaRPr lang="en-US" sz="500" dirty="0">
              <a:latin typeface="Canva Sans"/>
            </a:endParaRPr>
          </a:p>
          <a:p>
            <a:pPr algn="just"/>
            <a:r>
              <a:rPr lang="en-US" sz="1700" b="1" dirty="0">
                <a:latin typeface="Canva Sans"/>
              </a:rPr>
              <a:t>How It Works</a:t>
            </a:r>
          </a:p>
          <a:p>
            <a:pPr algn="just"/>
            <a:r>
              <a:rPr lang="en-US" sz="1700" dirty="0">
                <a:latin typeface="Canva Sans"/>
              </a:rPr>
              <a:t>Backdoor attacks exploit neurons dedicated exclusively to the trigger signal. Fine-Pruning identifies these neurons in the fc1 layer, those that fire rarely on clean inputs but activate strongly on triggered inputs  and permanently zeros them out. Since these neurons do not contribute to clean accuracy, disabling them removes the backdoor with minimal collateral damage.</a:t>
            </a:r>
          </a:p>
          <a:p>
            <a:pPr algn="just"/>
            <a:endParaRPr lang="en-US" sz="1200" dirty="0">
              <a:latin typeface="Canva Sans"/>
            </a:endParaRPr>
          </a:p>
          <a:p>
            <a:pPr algn="just"/>
            <a:r>
              <a:rPr lang="it-IT" sz="1700" b="1" dirty="0">
                <a:latin typeface="Canva Sans"/>
              </a:rPr>
              <a:t>Defense Pipeline (analysis_defense.py)</a:t>
            </a:r>
          </a:p>
        </p:txBody>
      </p:sp>
      <mc:AlternateContent xmlns:mc="http://schemas.openxmlformats.org/markup-compatibility/2006" xmlns:a14="http://schemas.microsoft.com/office/drawing/2010/main">
        <mc:Choice Requires="a14">
          <p:graphicFrame>
            <p:nvGraphicFramePr>
              <p:cNvPr id="7" name="Tabella 6">
                <a:extLst>
                  <a:ext uri="{FF2B5EF4-FFF2-40B4-BE49-F238E27FC236}">
                    <a16:creationId xmlns:a16="http://schemas.microsoft.com/office/drawing/2014/main" id="{01F75F6B-2752-54CF-C413-6CAFB4611329}"/>
                  </a:ext>
                </a:extLst>
              </p:cNvPr>
              <p:cNvGraphicFramePr>
                <a:graphicFrameLocks noGrp="1"/>
              </p:cNvGraphicFramePr>
              <p:nvPr>
                <p:extLst>
                  <p:ext uri="{D42A27DB-BD31-4B8C-83A1-F6EECF244321}">
                    <p14:modId xmlns:p14="http://schemas.microsoft.com/office/powerpoint/2010/main" val="1871945870"/>
                  </p:ext>
                </p:extLst>
              </p:nvPr>
            </p:nvGraphicFramePr>
            <p:xfrm>
              <a:off x="1098325" y="3336835"/>
              <a:ext cx="9995350" cy="3273017"/>
            </p:xfrm>
            <a:graphic>
              <a:graphicData uri="http://schemas.openxmlformats.org/drawingml/2006/table">
                <a:tbl>
                  <a:tblPr firstRow="1" bandRow="1">
                    <a:tableStyleId>{5C22544A-7EE6-4342-B048-85BDC9FD1C3A}</a:tableStyleId>
                  </a:tblPr>
                  <a:tblGrid>
                    <a:gridCol w="1596015">
                      <a:extLst>
                        <a:ext uri="{9D8B030D-6E8A-4147-A177-3AD203B41FA5}">
                          <a16:colId xmlns:a16="http://schemas.microsoft.com/office/drawing/2014/main" val="50479261"/>
                        </a:ext>
                      </a:extLst>
                    </a:gridCol>
                    <a:gridCol w="8399335">
                      <a:extLst>
                        <a:ext uri="{9D8B030D-6E8A-4147-A177-3AD203B41FA5}">
                          <a16:colId xmlns:a16="http://schemas.microsoft.com/office/drawing/2014/main" val="3911508582"/>
                        </a:ext>
                      </a:extLst>
                    </a:gridCol>
                  </a:tblGrid>
                  <a:tr h="367677">
                    <a:tc>
                      <a:txBody>
                        <a:bodyPr/>
                        <a:lstStyle/>
                        <a:p>
                          <a:pPr algn="l">
                            <a:buNone/>
                          </a:pPr>
                          <a:r>
                            <a:rPr lang="it-IT" sz="1600" dirty="0">
                              <a:solidFill>
                                <a:schemeClr val="tx1"/>
                              </a:solidFill>
                              <a:effectLst/>
                              <a:latin typeface="Canva Sans"/>
                            </a:rPr>
                            <a:t>Step</a:t>
                          </a:r>
                        </a:p>
                      </a:txBody>
                      <a:tcPr marL="50800" marR="50800" marT="50800" marB="508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dirty="0" err="1">
                              <a:solidFill>
                                <a:schemeClr val="tx1"/>
                              </a:solidFill>
                              <a:effectLst/>
                              <a:latin typeface="Canva Sans"/>
                            </a:rPr>
                            <a:t>Operation</a:t>
                          </a:r>
                          <a:endParaRPr lang="it-IT" sz="1600" dirty="0">
                            <a:solidFill>
                              <a:schemeClr val="tx1"/>
                            </a:solidFill>
                            <a:effectLst/>
                            <a:latin typeface="Canva Sans"/>
                          </a:endParaRPr>
                        </a:p>
                      </a:txBody>
                      <a:tcPr marL="50800" marR="50800" marT="50800" marB="508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84413046"/>
                      </a:ext>
                    </a:extLst>
                  </a:tr>
                  <a:tr h="367677">
                    <a:tc>
                      <a:txBody>
                        <a:bodyPr/>
                        <a:lstStyle/>
                        <a:p>
                          <a:pPr algn="l">
                            <a:buNone/>
                          </a:pPr>
                          <a:r>
                            <a:rPr lang="it-IT" sz="1600" b="1">
                              <a:effectLst/>
                              <a:latin typeface="Canva Sans"/>
                            </a:rPr>
                            <a:t>1. Collect Activations</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en-US" sz="1600" b="0" dirty="0">
                              <a:effectLst/>
                              <a:latin typeface="Canva Sans"/>
                            </a:rPr>
                            <a:t>Run clean and triggered images through the model : collect post-</a:t>
                          </a:r>
                          <a:r>
                            <a:rPr lang="en-US" sz="1600" b="0" dirty="0" err="1">
                              <a:effectLst/>
                              <a:latin typeface="Canva Sans"/>
                            </a:rPr>
                            <a:t>ReLU</a:t>
                          </a:r>
                          <a:r>
                            <a:rPr lang="en-US" sz="1600" b="0" dirty="0">
                              <a:effectLst/>
                              <a:latin typeface="Canva Sans"/>
                            </a:rPr>
                            <a:t> fc1 activations (256 neurons) via a forward hook</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65548303"/>
                      </a:ext>
                    </a:extLst>
                  </a:tr>
                  <a:tr h="379261">
                    <a:tc>
                      <a:txBody>
                        <a:bodyPr/>
                        <a:lstStyle/>
                        <a:p>
                          <a:pPr algn="l">
                            <a:buNone/>
                          </a:pPr>
                          <a:r>
                            <a:rPr lang="it-IT" sz="1600" b="1">
                              <a:effectLst/>
                              <a:latin typeface="Canva Sans"/>
                            </a:rPr>
                            <a:t>2. Scoring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it-IT" sz="1600" b="0">
                              <a:effectLst/>
                              <a:latin typeface="Canva Sans"/>
                            </a:rPr>
                            <a:t>Compute </a:t>
                          </a:r>
                          <a:r>
                            <a:rPr lang="it-IT" sz="1600" b="0" i="1">
                              <a:effectLst/>
                              <a:latin typeface="Canva Sans"/>
                            </a:rPr>
                            <a:t>trigger sensitivity</a:t>
                          </a:r>
                          <a:r>
                            <a:rPr lang="it-IT" sz="1600" b="0">
                              <a:effectLst/>
                              <a:latin typeface="Canva Sans"/>
                            </a:rPr>
                            <a:t> for each neuron: </a:t>
                          </a:r>
                          <a14:m>
                            <m:oMath xmlns:m="http://schemas.openxmlformats.org/officeDocument/2006/math">
                              <m:sSub>
                                <m:sSubPr>
                                  <m:ctrlPr>
                                    <a:rPr lang="ar-AE" sz="1600" b="0" i="1">
                                      <a:latin typeface="Cambria Math" panose="02040503050406030204" pitchFamily="18" charset="0"/>
                                    </a:rPr>
                                  </m:ctrlPr>
                                </m:sSubPr>
                                <m:e>
                                  <m:r>
                                    <a:rPr lang="ar-AE" sz="1600" b="0" i="1" smtClean="0">
                                      <a:latin typeface="Cambria Math" panose="02040503050406030204" pitchFamily="18" charset="0"/>
                                    </a:rPr>
                                    <m:t>𝑆</m:t>
                                  </m:r>
                                </m:e>
                                <m:sub>
                                  <m:r>
                                    <a:rPr lang="ar-AE" sz="1600" b="0" i="1" smtClean="0">
                                      <a:latin typeface="Cambria Math" panose="02040503050406030204" pitchFamily="18" charset="0"/>
                                    </a:rPr>
                                    <m:t>𝑗</m:t>
                                  </m:r>
                                </m:sub>
                              </m:sSub>
                              <m:r>
                                <a:rPr lang="ar-AE" sz="1600" b="0" i="0" smtClean="0">
                                  <a:latin typeface="Cambria Math" panose="02040503050406030204" pitchFamily="18" charset="0"/>
                                </a:rPr>
                                <m:t>=</m:t>
                              </m:r>
                              <m:r>
                                <a:rPr lang="ar-AE" sz="1600" b="0" i="1" smtClean="0">
                                  <a:latin typeface="Cambria Math" panose="02040503050406030204" pitchFamily="18" charset="0"/>
                                </a:rPr>
                                <m:t>𝑃</m:t>
                              </m:r>
                              <m:d>
                                <m:dPr>
                                  <m:ctrlPr>
                                    <a:rPr lang="ar-AE" sz="1600" b="0" i="1">
                                      <a:latin typeface="Cambria Math" panose="02040503050406030204" pitchFamily="18" charset="0"/>
                                    </a:rPr>
                                  </m:ctrlPr>
                                </m:dPr>
                                <m:e>
                                  <m:sSub>
                                    <m:sSubPr>
                                      <m:ctrlPr>
                                        <a:rPr lang="ar-AE" sz="1600" b="0" i="1">
                                          <a:latin typeface="Cambria Math" panose="02040503050406030204" pitchFamily="18" charset="0"/>
                                        </a:rPr>
                                      </m:ctrlPr>
                                    </m:sSubPr>
                                    <m:e>
                                      <m:r>
                                        <a:rPr lang="ar-AE" sz="1600" b="0" i="1" smtClean="0">
                                          <a:latin typeface="Cambria Math" panose="02040503050406030204" pitchFamily="18" charset="0"/>
                                        </a:rPr>
                                        <m:t>𝑧</m:t>
                                      </m:r>
                                    </m:e>
                                    <m:sub>
                                      <m:r>
                                        <a:rPr lang="ar-AE" sz="1600" b="0" i="1" smtClean="0">
                                          <a:latin typeface="Cambria Math" panose="02040503050406030204" pitchFamily="18" charset="0"/>
                                        </a:rPr>
                                        <m:t>𝑗</m:t>
                                      </m:r>
                                    </m:sub>
                                  </m:sSub>
                                  <m:r>
                                    <a:rPr lang="ar-AE" sz="1600" b="0" i="0" smtClean="0">
                                      <a:latin typeface="Cambria Math" panose="02040503050406030204" pitchFamily="18" charset="0"/>
                                    </a:rPr>
                                    <m:t>&gt;</m:t>
                                  </m:r>
                                  <m:r>
                                    <a:rPr lang="ar-AE" sz="1600" b="0" i="0" smtClean="0">
                                      <a:latin typeface="Cambria Math" panose="02040503050406030204" pitchFamily="18" charset="0"/>
                                    </a:rPr>
                                    <m:t>0</m:t>
                                  </m:r>
                                  <m:r>
                                    <a:rPr lang="ar-AE" sz="1600" b="0" i="0" smtClean="0">
                                      <a:latin typeface="Cambria Math" panose="02040503050406030204" pitchFamily="18" charset="0"/>
                                    </a:rPr>
                                    <m:t>∣</m:t>
                                  </m:r>
                                  <m:r>
                                    <m:rPr>
                                      <m:nor/>
                                    </m:rPr>
                                    <a:rPr lang="it-IT" sz="1600" b="0" i="1">
                                      <a:latin typeface="Canva Sans"/>
                                    </a:rPr>
                                    <m:t>triggered</m:t>
                                  </m:r>
                                </m:e>
                              </m:d>
                              <m:r>
                                <a:rPr lang="ar-AE" sz="1600" b="0" i="0" smtClean="0">
                                  <a:latin typeface="Cambria Math" panose="02040503050406030204" pitchFamily="18" charset="0"/>
                                </a:rPr>
                                <m:t>−</m:t>
                              </m:r>
                              <m:r>
                                <a:rPr lang="ar-AE" sz="1600" b="0" i="1" smtClean="0">
                                  <a:latin typeface="Cambria Math" panose="02040503050406030204" pitchFamily="18" charset="0"/>
                                </a:rPr>
                                <m:t>𝑃</m:t>
                              </m:r>
                              <m:d>
                                <m:dPr>
                                  <m:ctrlPr>
                                    <a:rPr lang="ar-AE" sz="1600" b="0" i="1">
                                      <a:latin typeface="Cambria Math" panose="02040503050406030204" pitchFamily="18" charset="0"/>
                                    </a:rPr>
                                  </m:ctrlPr>
                                </m:dPr>
                                <m:e>
                                  <m:sSub>
                                    <m:sSubPr>
                                      <m:ctrlPr>
                                        <a:rPr lang="ar-AE" sz="1600" b="0" i="1">
                                          <a:latin typeface="Cambria Math" panose="02040503050406030204" pitchFamily="18" charset="0"/>
                                        </a:rPr>
                                      </m:ctrlPr>
                                    </m:sSubPr>
                                    <m:e>
                                      <m:r>
                                        <a:rPr lang="ar-AE" sz="1600" b="0" i="1" smtClean="0">
                                          <a:latin typeface="Cambria Math" panose="02040503050406030204" pitchFamily="18" charset="0"/>
                                        </a:rPr>
                                        <m:t>𝑧</m:t>
                                      </m:r>
                                    </m:e>
                                    <m:sub>
                                      <m:r>
                                        <a:rPr lang="ar-AE" sz="1600" b="0" i="1" smtClean="0">
                                          <a:latin typeface="Cambria Math" panose="02040503050406030204" pitchFamily="18" charset="0"/>
                                        </a:rPr>
                                        <m:t>𝑗</m:t>
                                      </m:r>
                                    </m:sub>
                                  </m:sSub>
                                  <m:r>
                                    <a:rPr lang="ar-AE" sz="1600" b="0" i="0" smtClean="0">
                                      <a:latin typeface="Cambria Math" panose="02040503050406030204" pitchFamily="18" charset="0"/>
                                    </a:rPr>
                                    <m:t>&gt;</m:t>
                                  </m:r>
                                  <m:r>
                                    <a:rPr lang="ar-AE" sz="1600" b="0" i="0" smtClean="0">
                                      <a:latin typeface="Cambria Math" panose="02040503050406030204" pitchFamily="18" charset="0"/>
                                    </a:rPr>
                                    <m:t>0</m:t>
                                  </m:r>
                                  <m:r>
                                    <a:rPr lang="ar-AE" sz="1600" b="0" i="0" smtClean="0">
                                      <a:latin typeface="Cambria Math" panose="02040503050406030204" pitchFamily="18" charset="0"/>
                                    </a:rPr>
                                    <m:t>∣</m:t>
                                  </m:r>
                                  <m:r>
                                    <m:rPr>
                                      <m:nor/>
                                    </m:rPr>
                                    <a:rPr lang="it-IT" sz="1600" b="0" i="1">
                                      <a:latin typeface="Canva Sans"/>
                                    </a:rPr>
                                    <m:t>clean</m:t>
                                  </m:r>
                                </m:e>
                              </m:d>
                            </m:oMath>
                          </a14:m>
                          <a:endParaRPr lang="ar-AE" sz="1600" b="0">
                            <a:effectLst/>
                            <a:latin typeface="Canva Sans"/>
                          </a:endParaRP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563688727"/>
                      </a:ext>
                    </a:extLst>
                  </a:tr>
                  <a:tr h="367677">
                    <a:tc>
                      <a:txBody>
                        <a:bodyPr/>
                        <a:lstStyle/>
                        <a:p>
                          <a:pPr algn="l">
                            <a:buNone/>
                          </a:pPr>
                          <a:r>
                            <a:rPr lang="it-IT" sz="1600" b="1">
                              <a:effectLst/>
                              <a:latin typeface="Canva Sans"/>
                            </a:rPr>
                            <a:t>3. Ranking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it-IT" sz="1600" b="0" dirty="0">
                              <a:effectLst/>
                              <a:latin typeface="Canva Sans"/>
                            </a:rPr>
                            <a:t>Sort </a:t>
                          </a:r>
                          <a:r>
                            <a:rPr lang="it-IT" sz="1600" b="0" dirty="0" err="1">
                              <a:effectLst/>
                              <a:latin typeface="Canva Sans"/>
                            </a:rPr>
                            <a:t>neurons</a:t>
                          </a:r>
                          <a:r>
                            <a:rPr lang="it-IT" sz="1600" b="0" dirty="0">
                              <a:effectLst/>
                              <a:latin typeface="Canva Sans"/>
                            </a:rPr>
                            <a:t> by </a:t>
                          </a:r>
                          <a:r>
                            <a:rPr lang="it-IT" sz="1600" b="0" dirty="0" err="1">
                              <a:effectLst/>
                              <a:latin typeface="Canva Sans"/>
                            </a:rPr>
                            <a:t>descending</a:t>
                          </a:r>
                          <a:r>
                            <a:rPr lang="it-IT" sz="1600" b="0" dirty="0">
                              <a:effectLst/>
                              <a:latin typeface="Canva Sans"/>
                            </a:rPr>
                            <a:t> </a:t>
                          </a:r>
                          <a14:m>
                            <m:oMath xmlns:m="http://schemas.openxmlformats.org/officeDocument/2006/math">
                              <m:sSub>
                                <m:sSubPr>
                                  <m:ctrlPr>
                                    <a:rPr lang="ar-AE" sz="1600" b="0" i="1">
                                      <a:latin typeface="Cambria Math" panose="02040503050406030204" pitchFamily="18" charset="0"/>
                                    </a:rPr>
                                  </m:ctrlPr>
                                </m:sSubPr>
                                <m:e>
                                  <m:r>
                                    <a:rPr lang="ar-AE" sz="1600" b="0" i="1" smtClean="0">
                                      <a:latin typeface="Cambria Math" panose="02040503050406030204" pitchFamily="18" charset="0"/>
                                    </a:rPr>
                                    <m:t>𝑆</m:t>
                                  </m:r>
                                </m:e>
                                <m:sub>
                                  <m:r>
                                    <a:rPr lang="ar-AE" sz="1600" b="0" i="1" smtClean="0">
                                      <a:latin typeface="Cambria Math" panose="02040503050406030204" pitchFamily="18" charset="0"/>
                                    </a:rPr>
                                    <m:t>𝑗</m:t>
                                  </m:r>
                                </m:sub>
                              </m:sSub>
                            </m:oMath>
                          </a14:m>
                          <a:r>
                            <a:rPr lang="ar-AE" sz="1600" b="0" dirty="0">
                              <a:effectLst/>
                              <a:latin typeface="Canva Sans"/>
                            </a:rPr>
                            <a:t>— </a:t>
                          </a:r>
                          <a:r>
                            <a:rPr lang="it-IT" sz="1600" b="0" dirty="0" err="1">
                              <a:effectLst/>
                              <a:latin typeface="Canva Sans"/>
                            </a:rPr>
                            <a:t>highest</a:t>
                          </a:r>
                          <a:r>
                            <a:rPr lang="it-IT" sz="1600" b="0" dirty="0">
                              <a:effectLst/>
                              <a:latin typeface="Canva Sans"/>
                            </a:rPr>
                            <a:t> scores </a:t>
                          </a:r>
                          <a:r>
                            <a:rPr lang="it-IT" sz="1600" b="0" dirty="0" err="1">
                              <a:effectLst/>
                              <a:latin typeface="Canva Sans"/>
                            </a:rPr>
                            <a:t>identify</a:t>
                          </a:r>
                          <a:r>
                            <a:rPr lang="it-IT" sz="1600" b="0" dirty="0">
                              <a:effectLst/>
                              <a:latin typeface="Canva Sans"/>
                            </a:rPr>
                            <a:t> </a:t>
                          </a:r>
                          <a:r>
                            <a:rPr lang="it-IT" sz="1600" b="0" dirty="0" err="1">
                              <a:effectLst/>
                              <a:latin typeface="Canva Sans"/>
                            </a:rPr>
                            <a:t>neurons</a:t>
                          </a:r>
                          <a:r>
                            <a:rPr lang="it-IT" sz="1600" b="0" dirty="0">
                              <a:effectLst/>
                              <a:latin typeface="Canva Sans"/>
                            </a:rPr>
                            <a:t> </a:t>
                          </a:r>
                          <a:r>
                            <a:rPr lang="it-IT" sz="1600" b="0" dirty="0" err="1">
                              <a:effectLst/>
                              <a:latin typeface="Canva Sans"/>
                            </a:rPr>
                            <a:t>most</a:t>
                          </a:r>
                          <a:r>
                            <a:rPr lang="it-IT" sz="1600" b="0" dirty="0">
                              <a:effectLst/>
                              <a:latin typeface="Canva Sans"/>
                            </a:rPr>
                            <a:t> </a:t>
                          </a:r>
                          <a:r>
                            <a:rPr lang="it-IT" sz="1600" b="0" dirty="0" err="1">
                              <a:effectLst/>
                              <a:latin typeface="Canva Sans"/>
                            </a:rPr>
                            <a:t>selectively</a:t>
                          </a:r>
                          <a:r>
                            <a:rPr lang="it-IT" sz="1600" b="0" dirty="0">
                              <a:effectLst/>
                              <a:latin typeface="Canva Sans"/>
                            </a:rPr>
                            <a:t> </a:t>
                          </a:r>
                          <a:r>
                            <a:rPr lang="it-IT" sz="1600" b="0" dirty="0" err="1">
                              <a:effectLst/>
                              <a:latin typeface="Canva Sans"/>
                            </a:rPr>
                            <a:t>activated</a:t>
                          </a:r>
                          <a:r>
                            <a:rPr lang="it-IT" sz="1600" b="0" dirty="0">
                              <a:effectLst/>
                              <a:latin typeface="Canva Sans"/>
                            </a:rPr>
                            <a:t> by the trigger</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318393049"/>
                      </a:ext>
                    </a:extLst>
                  </a:tr>
                  <a:tr h="367677">
                    <a:tc>
                      <a:txBody>
                        <a:bodyPr/>
                        <a:lstStyle/>
                        <a:p>
                          <a:pPr algn="l">
                            <a:buNone/>
                          </a:pPr>
                          <a:r>
                            <a:rPr lang="it-IT" sz="1600" b="1">
                              <a:effectLst/>
                              <a:latin typeface="Canva Sans"/>
                            </a:rPr>
                            <a:t>4. Pruning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it-IT" sz="1600" b="0" dirty="0" err="1">
                              <a:effectLst/>
                              <a:latin typeface="Canva Sans"/>
                            </a:rPr>
                            <a:t>Apply</a:t>
                          </a:r>
                          <a:r>
                            <a:rPr lang="it-IT" sz="1600" b="0" dirty="0">
                              <a:effectLst/>
                              <a:latin typeface="Canva Sans"/>
                            </a:rPr>
                            <a:t> </a:t>
                          </a:r>
                          <a:r>
                            <a:rPr lang="it-IT" sz="1600" b="0" dirty="0" err="1">
                              <a:effectLst/>
                              <a:latin typeface="Canva Sans"/>
                            </a:rPr>
                            <a:t>fixed</a:t>
                          </a:r>
                          <a:r>
                            <a:rPr lang="it-IT" sz="1600" b="0" dirty="0">
                              <a:effectLst/>
                              <a:latin typeface="Canva Sans"/>
                            </a:rPr>
                            <a:t> </a:t>
                          </a:r>
                          <a:r>
                            <a:rPr lang="it-IT" sz="1600" b="0" dirty="0" err="1">
                              <a:effectLst/>
                              <a:latin typeface="Canva Sans"/>
                            </a:rPr>
                            <a:t>pruning</a:t>
                          </a:r>
                          <a:r>
                            <a:rPr lang="it-IT" sz="1600" b="0" dirty="0">
                              <a:effectLst/>
                              <a:latin typeface="Canva Sans"/>
                            </a:rPr>
                            <a:t> </a:t>
                          </a:r>
                          <a:r>
                            <a:rPr lang="it-IT" sz="1600" b="0" dirty="0" err="1">
                              <a:effectLst/>
                              <a:latin typeface="Canva Sans"/>
                            </a:rPr>
                            <a:t>fractions</a:t>
                          </a:r>
                          <a:r>
                            <a:rPr lang="it-IT" sz="1600" b="0" dirty="0">
                              <a:effectLst/>
                              <a:latin typeface="Canva Sans"/>
                            </a:rPr>
                            <a:t> [0%, 5%, 8%, 10%, 15%] : zero out top-k </a:t>
                          </a:r>
                          <a:r>
                            <a:rPr lang="it-IT" sz="1600" b="0" dirty="0" err="1">
                              <a:effectLst/>
                              <a:latin typeface="Canva Sans"/>
                            </a:rPr>
                            <a:t>neurons</a:t>
                          </a:r>
                          <a:r>
                            <a:rPr lang="it-IT" sz="1600" b="0" dirty="0">
                              <a:effectLst/>
                              <a:latin typeface="Canva Sans"/>
                            </a:rPr>
                            <a:t>: fc1.weight[j], fc1.bias[j], fc2.weight[:, j]</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450922753"/>
                      </a:ext>
                    </a:extLst>
                  </a:tr>
                  <a:tr h="367677">
                    <a:tc>
                      <a:txBody>
                        <a:bodyPr/>
                        <a:lstStyle/>
                        <a:p>
                          <a:pPr algn="l">
                            <a:buNone/>
                          </a:pPr>
                          <a:r>
                            <a:rPr lang="it-IT" sz="1600" b="1">
                              <a:effectLst/>
                              <a:latin typeface="Canva Sans"/>
                            </a:rPr>
                            <a:t>5. Evaluation</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en-US" sz="1600" b="0">
                              <a:effectLst/>
                              <a:latin typeface="Canva Sans"/>
                            </a:rPr>
                            <a:t>Measure Clean Accuracy and ASR after each pruning step</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347435885"/>
                      </a:ext>
                    </a:extLst>
                  </a:tr>
                  <a:tr h="367677">
                    <a:tc>
                      <a:txBody>
                        <a:bodyPr/>
                        <a:lstStyle/>
                        <a:p>
                          <a:pPr algn="l">
                            <a:buNone/>
                          </a:pPr>
                          <a:r>
                            <a:rPr lang="it-IT" sz="1600" b="1">
                              <a:effectLst/>
                              <a:latin typeface="Canva Sans"/>
                            </a:rPr>
                            <a:t>6. Output</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lgn="l">
                            <a:buNone/>
                          </a:pPr>
                          <a:r>
                            <a:rPr lang="en-US" sz="1600" b="0" dirty="0">
                              <a:effectLst/>
                              <a:latin typeface="Canva Sans"/>
                            </a:rPr>
                            <a:t>Save the tradeoff curve : pruning_tradeoff.png</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4ED"/>
                        </a:solidFill>
                      </a:tcPr>
                    </a:tc>
                    <a:extLst>
                      <a:ext uri="{0D108BD9-81ED-4DB2-BD59-A6C34878D82A}">
                        <a16:rowId xmlns:a16="http://schemas.microsoft.com/office/drawing/2014/main" val="3518084013"/>
                      </a:ext>
                    </a:extLst>
                  </a:tr>
                </a:tbl>
              </a:graphicData>
            </a:graphic>
          </p:graphicFrame>
        </mc:Choice>
        <mc:Fallback xmlns="">
          <p:graphicFrame>
            <p:nvGraphicFramePr>
              <p:cNvPr id="7" name="Tabella 6">
                <a:extLst>
                  <a:ext uri="{FF2B5EF4-FFF2-40B4-BE49-F238E27FC236}">
                    <a16:creationId xmlns:a16="http://schemas.microsoft.com/office/drawing/2014/main" id="{01F75F6B-2752-54CF-C413-6CAFB4611329}"/>
                  </a:ext>
                </a:extLst>
              </p:cNvPr>
              <p:cNvGraphicFramePr>
                <a:graphicFrameLocks noGrp="1"/>
              </p:cNvGraphicFramePr>
              <p:nvPr>
                <p:extLst>
                  <p:ext uri="{D42A27DB-BD31-4B8C-83A1-F6EECF244321}">
                    <p14:modId xmlns:p14="http://schemas.microsoft.com/office/powerpoint/2010/main" val="1871945870"/>
                  </p:ext>
                </p:extLst>
              </p:nvPr>
            </p:nvGraphicFramePr>
            <p:xfrm>
              <a:off x="1098325" y="3336835"/>
              <a:ext cx="9995350" cy="3273017"/>
            </p:xfrm>
            <a:graphic>
              <a:graphicData uri="http://schemas.openxmlformats.org/drawingml/2006/table">
                <a:tbl>
                  <a:tblPr firstRow="1" bandRow="1">
                    <a:tableStyleId>{5C22544A-7EE6-4342-B048-85BDC9FD1C3A}</a:tableStyleId>
                  </a:tblPr>
                  <a:tblGrid>
                    <a:gridCol w="1596015">
                      <a:extLst>
                        <a:ext uri="{9D8B030D-6E8A-4147-A177-3AD203B41FA5}">
                          <a16:colId xmlns:a16="http://schemas.microsoft.com/office/drawing/2014/main" val="50479261"/>
                        </a:ext>
                      </a:extLst>
                    </a:gridCol>
                    <a:gridCol w="8399335">
                      <a:extLst>
                        <a:ext uri="{9D8B030D-6E8A-4147-A177-3AD203B41FA5}">
                          <a16:colId xmlns:a16="http://schemas.microsoft.com/office/drawing/2014/main" val="3911508582"/>
                        </a:ext>
                      </a:extLst>
                    </a:gridCol>
                  </a:tblGrid>
                  <a:tr h="367677">
                    <a:tc>
                      <a:txBody>
                        <a:bodyPr/>
                        <a:lstStyle/>
                        <a:p>
                          <a:pPr algn="l">
                            <a:buNone/>
                          </a:pPr>
                          <a:r>
                            <a:rPr lang="it-IT" sz="1600" dirty="0">
                              <a:solidFill>
                                <a:schemeClr val="tx1"/>
                              </a:solidFill>
                              <a:effectLst/>
                              <a:latin typeface="Canva Sans"/>
                            </a:rPr>
                            <a:t>Step</a:t>
                          </a:r>
                        </a:p>
                      </a:txBody>
                      <a:tcPr marL="50800" marR="50800" marT="50800" marB="508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it-IT" sz="1600" dirty="0" err="1">
                              <a:solidFill>
                                <a:schemeClr val="tx1"/>
                              </a:solidFill>
                              <a:effectLst/>
                              <a:latin typeface="Canva Sans"/>
                            </a:rPr>
                            <a:t>Operation</a:t>
                          </a:r>
                          <a:endParaRPr lang="it-IT" sz="1600" dirty="0">
                            <a:solidFill>
                              <a:schemeClr val="tx1"/>
                            </a:solidFill>
                            <a:effectLst/>
                            <a:latin typeface="Canva Sans"/>
                          </a:endParaRPr>
                        </a:p>
                      </a:txBody>
                      <a:tcPr marL="50800" marR="50800" marT="50800" marB="508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84413046"/>
                      </a:ext>
                    </a:extLst>
                  </a:tr>
                  <a:tr h="589280">
                    <a:tc>
                      <a:txBody>
                        <a:bodyPr/>
                        <a:lstStyle/>
                        <a:p>
                          <a:pPr algn="l">
                            <a:buNone/>
                          </a:pPr>
                          <a:r>
                            <a:rPr lang="it-IT" sz="1600" b="1">
                              <a:effectLst/>
                              <a:latin typeface="Canva Sans"/>
                            </a:rPr>
                            <a:t>1. Collect Activations</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en-US" sz="1600" b="0" dirty="0">
                              <a:effectLst/>
                              <a:latin typeface="Canva Sans"/>
                            </a:rPr>
                            <a:t>Run clean and triggered images through the model : collect post-</a:t>
                          </a:r>
                          <a:r>
                            <a:rPr lang="en-US" sz="1600" b="0" dirty="0" err="1">
                              <a:effectLst/>
                              <a:latin typeface="Canva Sans"/>
                            </a:rPr>
                            <a:t>ReLU</a:t>
                          </a:r>
                          <a:r>
                            <a:rPr lang="en-US" sz="1600" b="0" dirty="0">
                              <a:effectLst/>
                              <a:latin typeface="Canva Sans"/>
                            </a:rPr>
                            <a:t> fc1 activations (256 neurons) via a forward hook</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65548303"/>
                      </a:ext>
                    </a:extLst>
                  </a:tr>
                  <a:tr h="382524">
                    <a:tc>
                      <a:txBody>
                        <a:bodyPr/>
                        <a:lstStyle/>
                        <a:p>
                          <a:pPr algn="l">
                            <a:buNone/>
                          </a:pPr>
                          <a:r>
                            <a:rPr lang="it-IT" sz="1600" b="1">
                              <a:effectLst/>
                              <a:latin typeface="Canva Sans"/>
                            </a:rPr>
                            <a:t>2. Scoring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endParaRPr lang="it-IT"/>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086" t="-250794" r="-145" b="-520635"/>
                          </a:stretch>
                        </a:blipFill>
                      </a:tcPr>
                    </a:tc>
                    <a:extLst>
                      <a:ext uri="{0D108BD9-81ED-4DB2-BD59-A6C34878D82A}">
                        <a16:rowId xmlns:a16="http://schemas.microsoft.com/office/drawing/2014/main" val="563688727"/>
                      </a:ext>
                    </a:extLst>
                  </a:tr>
                  <a:tr h="608902">
                    <a:tc>
                      <a:txBody>
                        <a:bodyPr/>
                        <a:lstStyle/>
                        <a:p>
                          <a:pPr algn="l">
                            <a:buNone/>
                          </a:pPr>
                          <a:r>
                            <a:rPr lang="it-IT" sz="1600" b="1">
                              <a:effectLst/>
                              <a:latin typeface="Canva Sans"/>
                            </a:rPr>
                            <a:t>3. Ranking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endParaRPr lang="it-IT"/>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086" t="-221000" r="-145" b="-228000"/>
                          </a:stretch>
                        </a:blipFill>
                      </a:tcPr>
                    </a:tc>
                    <a:extLst>
                      <a:ext uri="{0D108BD9-81ED-4DB2-BD59-A6C34878D82A}">
                        <a16:rowId xmlns:a16="http://schemas.microsoft.com/office/drawing/2014/main" val="3318393049"/>
                      </a:ext>
                    </a:extLst>
                  </a:tr>
                  <a:tr h="589280">
                    <a:tc>
                      <a:txBody>
                        <a:bodyPr/>
                        <a:lstStyle/>
                        <a:p>
                          <a:pPr algn="l">
                            <a:buNone/>
                          </a:pPr>
                          <a:r>
                            <a:rPr lang="it-IT" sz="1600" b="1">
                              <a:effectLst/>
                              <a:latin typeface="Canva Sans"/>
                            </a:rPr>
                            <a:t>4. Pruning</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it-IT" sz="1600" b="0" dirty="0" err="1">
                              <a:effectLst/>
                              <a:latin typeface="Canva Sans"/>
                            </a:rPr>
                            <a:t>Apply</a:t>
                          </a:r>
                          <a:r>
                            <a:rPr lang="it-IT" sz="1600" b="0" dirty="0">
                              <a:effectLst/>
                              <a:latin typeface="Canva Sans"/>
                            </a:rPr>
                            <a:t> </a:t>
                          </a:r>
                          <a:r>
                            <a:rPr lang="it-IT" sz="1600" b="0" dirty="0" err="1">
                              <a:effectLst/>
                              <a:latin typeface="Canva Sans"/>
                            </a:rPr>
                            <a:t>fixed</a:t>
                          </a:r>
                          <a:r>
                            <a:rPr lang="it-IT" sz="1600" b="0" dirty="0">
                              <a:effectLst/>
                              <a:latin typeface="Canva Sans"/>
                            </a:rPr>
                            <a:t> </a:t>
                          </a:r>
                          <a:r>
                            <a:rPr lang="it-IT" sz="1600" b="0" dirty="0" err="1">
                              <a:effectLst/>
                              <a:latin typeface="Canva Sans"/>
                            </a:rPr>
                            <a:t>pruning</a:t>
                          </a:r>
                          <a:r>
                            <a:rPr lang="it-IT" sz="1600" b="0" dirty="0">
                              <a:effectLst/>
                              <a:latin typeface="Canva Sans"/>
                            </a:rPr>
                            <a:t> </a:t>
                          </a:r>
                          <a:r>
                            <a:rPr lang="it-IT" sz="1600" b="0" dirty="0" err="1">
                              <a:effectLst/>
                              <a:latin typeface="Canva Sans"/>
                            </a:rPr>
                            <a:t>fractions</a:t>
                          </a:r>
                          <a:r>
                            <a:rPr lang="it-IT" sz="1600" b="0" dirty="0">
                              <a:effectLst/>
                              <a:latin typeface="Canva Sans"/>
                            </a:rPr>
                            <a:t> [0%, 5%, 8%, 10%, 15%] : zero out top-k </a:t>
                          </a:r>
                          <a:r>
                            <a:rPr lang="it-IT" sz="1600" b="0" dirty="0" err="1">
                              <a:effectLst/>
                              <a:latin typeface="Canva Sans"/>
                            </a:rPr>
                            <a:t>neurons</a:t>
                          </a:r>
                          <a:r>
                            <a:rPr lang="it-IT" sz="1600" b="0" dirty="0">
                              <a:effectLst/>
                              <a:latin typeface="Canva Sans"/>
                            </a:rPr>
                            <a:t>: fc1.weight[j], fc1.bias[j], fc2.weight[:, j]</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450922753"/>
                      </a:ext>
                    </a:extLst>
                  </a:tr>
                  <a:tr h="367677">
                    <a:tc>
                      <a:txBody>
                        <a:bodyPr/>
                        <a:lstStyle/>
                        <a:p>
                          <a:pPr algn="l">
                            <a:buNone/>
                          </a:pPr>
                          <a:r>
                            <a:rPr lang="it-IT" sz="1600" b="1">
                              <a:effectLst/>
                              <a:latin typeface="Canva Sans"/>
                            </a:rPr>
                            <a:t>5. Evaluation</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lgn="l">
                            <a:buNone/>
                          </a:pPr>
                          <a:r>
                            <a:rPr lang="en-US" sz="1600" b="0">
                              <a:effectLst/>
                              <a:latin typeface="Canva Sans"/>
                            </a:rPr>
                            <a:t>Measure Clean Accuracy and ASR after each pruning step</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347435885"/>
                      </a:ext>
                    </a:extLst>
                  </a:tr>
                  <a:tr h="367677">
                    <a:tc>
                      <a:txBody>
                        <a:bodyPr/>
                        <a:lstStyle/>
                        <a:p>
                          <a:pPr algn="l">
                            <a:buNone/>
                          </a:pPr>
                          <a:r>
                            <a:rPr lang="it-IT" sz="1600" b="1">
                              <a:effectLst/>
                              <a:latin typeface="Canva Sans"/>
                            </a:rPr>
                            <a:t>6. Output</a:t>
                          </a:r>
                          <a:endParaRPr lang="it-IT" sz="1600">
                            <a:effectLst/>
                            <a:latin typeface="Canva Sans"/>
                          </a:endParaRPr>
                        </a:p>
                      </a:txBody>
                      <a:tcPr marL="50800" marR="50800" marT="50800" marB="508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lgn="l">
                            <a:buNone/>
                          </a:pPr>
                          <a:r>
                            <a:rPr lang="en-US" sz="1600" b="0" dirty="0">
                              <a:effectLst/>
                              <a:latin typeface="Canva Sans"/>
                            </a:rPr>
                            <a:t>Save the tradeoff curve : pruning_tradeoff.png</a:t>
                          </a:r>
                        </a:p>
                      </a:txBody>
                      <a:tcPr marL="50800" marR="50800" marT="50800" marB="508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4ED"/>
                        </a:solidFill>
                      </a:tcPr>
                    </a:tc>
                    <a:extLst>
                      <a:ext uri="{0D108BD9-81ED-4DB2-BD59-A6C34878D82A}">
                        <a16:rowId xmlns:a16="http://schemas.microsoft.com/office/drawing/2014/main" val="3518084013"/>
                      </a:ext>
                    </a:extLst>
                  </a:tr>
                </a:tbl>
              </a:graphicData>
            </a:graphic>
          </p:graphicFrame>
        </mc:Fallback>
      </mc:AlternateContent>
      <p:sp>
        <p:nvSpPr>
          <p:cNvPr id="10" name="CasellaDiTesto 9">
            <a:extLst>
              <a:ext uri="{FF2B5EF4-FFF2-40B4-BE49-F238E27FC236}">
                <a16:creationId xmlns:a16="http://schemas.microsoft.com/office/drawing/2014/main" id="{ED4D084A-99A7-EE79-A7AB-AF11AE431F03}"/>
              </a:ext>
            </a:extLst>
          </p:cNvPr>
          <p:cNvSpPr txBox="1"/>
          <p:nvPr/>
        </p:nvSpPr>
        <p:spPr>
          <a:xfrm>
            <a:off x="0" y="0"/>
            <a:ext cx="6096000" cy="646331"/>
          </a:xfrm>
          <a:prstGeom prst="rect">
            <a:avLst/>
          </a:prstGeom>
          <a:noFill/>
        </p:spPr>
        <p:txBody>
          <a:bodyPr wrap="square">
            <a:spAutoFit/>
          </a:bodyPr>
          <a:lstStyle/>
          <a:p>
            <a:r>
              <a:rPr lang="en-US" sz="3600" b="1" dirty="0">
                <a:solidFill>
                  <a:srgbClr val="000000"/>
                </a:solidFill>
                <a:latin typeface="Canva Sans"/>
              </a:rPr>
              <a:t>Fine-Pruning Defense</a:t>
            </a:r>
          </a:p>
        </p:txBody>
      </p:sp>
    </p:spTree>
    <p:extLst>
      <p:ext uri="{BB962C8B-B14F-4D97-AF65-F5344CB8AC3E}">
        <p14:creationId xmlns:p14="http://schemas.microsoft.com/office/powerpoint/2010/main" val="3779877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9AEB4-65C8-9E1A-3C46-639FFFAD1243}"/>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72A33A02-CA19-A9E0-88AB-FD833041D6C3}"/>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7" name="CasellaDiTesto 6">
            <a:extLst>
              <a:ext uri="{FF2B5EF4-FFF2-40B4-BE49-F238E27FC236}">
                <a16:creationId xmlns:a16="http://schemas.microsoft.com/office/drawing/2014/main" id="{888DF22F-EBA1-E77F-67CB-ECA375CEFDEF}"/>
              </a:ext>
            </a:extLst>
          </p:cNvPr>
          <p:cNvSpPr txBox="1"/>
          <p:nvPr/>
        </p:nvSpPr>
        <p:spPr>
          <a:xfrm>
            <a:off x="1041401" y="262804"/>
            <a:ext cx="6129866" cy="646331"/>
          </a:xfrm>
          <a:prstGeom prst="rect">
            <a:avLst/>
          </a:prstGeom>
          <a:noFill/>
        </p:spPr>
        <p:txBody>
          <a:bodyPr wrap="square">
            <a:spAutoFit/>
          </a:bodyPr>
          <a:lstStyle/>
          <a:p>
            <a:r>
              <a:rPr lang="en-US" sz="3600" b="1" dirty="0">
                <a:solidFill>
                  <a:srgbClr val="000000"/>
                </a:solidFill>
                <a:latin typeface="Canva Sans"/>
              </a:rPr>
              <a:t>BP attack, 2 trials each</a:t>
            </a:r>
          </a:p>
        </p:txBody>
      </p:sp>
      <p:graphicFrame>
        <p:nvGraphicFramePr>
          <p:cNvPr id="10" name="Tabella 9">
            <a:extLst>
              <a:ext uri="{FF2B5EF4-FFF2-40B4-BE49-F238E27FC236}">
                <a16:creationId xmlns:a16="http://schemas.microsoft.com/office/drawing/2014/main" id="{F193E10D-BE2F-EF58-2127-811FC2796CED}"/>
              </a:ext>
            </a:extLst>
          </p:cNvPr>
          <p:cNvGraphicFramePr>
            <a:graphicFrameLocks noGrp="1"/>
          </p:cNvGraphicFramePr>
          <p:nvPr>
            <p:extLst>
              <p:ext uri="{D42A27DB-BD31-4B8C-83A1-F6EECF244321}">
                <p14:modId xmlns:p14="http://schemas.microsoft.com/office/powerpoint/2010/main" val="2123453315"/>
              </p:ext>
            </p:extLst>
          </p:nvPr>
        </p:nvGraphicFramePr>
        <p:xfrm>
          <a:off x="1128767" y="1171939"/>
          <a:ext cx="10256199" cy="2265336"/>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229435560"/>
                    </a:ext>
                  </a:extLst>
                </a:gridCol>
                <a:gridCol w="1751013">
                  <a:extLst>
                    <a:ext uri="{9D8B030D-6E8A-4147-A177-3AD203B41FA5}">
                      <a16:colId xmlns:a16="http://schemas.microsoft.com/office/drawing/2014/main" val="381993648"/>
                    </a:ext>
                  </a:extLst>
                </a:gridCol>
                <a:gridCol w="1997075">
                  <a:extLst>
                    <a:ext uri="{9D8B030D-6E8A-4147-A177-3AD203B41FA5}">
                      <a16:colId xmlns:a16="http://schemas.microsoft.com/office/drawing/2014/main" val="1453789588"/>
                    </a:ext>
                  </a:extLst>
                </a:gridCol>
                <a:gridCol w="1463038">
                  <a:extLst>
                    <a:ext uri="{9D8B030D-6E8A-4147-A177-3AD203B41FA5}">
                      <a16:colId xmlns:a16="http://schemas.microsoft.com/office/drawing/2014/main" val="3417385030"/>
                    </a:ext>
                  </a:extLst>
                </a:gridCol>
                <a:gridCol w="1997075">
                  <a:extLst>
                    <a:ext uri="{9D8B030D-6E8A-4147-A177-3AD203B41FA5}">
                      <a16:colId xmlns:a16="http://schemas.microsoft.com/office/drawing/2014/main" val="4044094317"/>
                    </a:ext>
                  </a:extLst>
                </a:gridCol>
                <a:gridCol w="1463038">
                  <a:extLst>
                    <a:ext uri="{9D8B030D-6E8A-4147-A177-3AD203B41FA5}">
                      <a16:colId xmlns:a16="http://schemas.microsoft.com/office/drawing/2014/main" val="1070362755"/>
                    </a:ext>
                  </a:extLst>
                </a:gridCol>
              </a:tblGrid>
              <a:tr h="411136">
                <a:tc>
                  <a:txBody>
                    <a:bodyPr/>
                    <a:lstStyle/>
                    <a:p>
                      <a:pPr>
                        <a:buNone/>
                      </a:pPr>
                      <a:r>
                        <a:rPr lang="it-IT" b="1" dirty="0">
                          <a:solidFill>
                            <a:schemeClr val="tx1"/>
                          </a:solidFill>
                          <a:effectLst/>
                          <a:latin typeface="Canva Sans"/>
                        </a:rPr>
                        <a:t>Prune </a:t>
                      </a:r>
                      <a:r>
                        <a:rPr lang="it-IT" b="1" dirty="0" err="1">
                          <a:solidFill>
                            <a:schemeClr val="tx1"/>
                          </a:solidFill>
                          <a:effectLst/>
                          <a:latin typeface="Canva Sans"/>
                        </a:rPr>
                        <a:t>Fraction</a:t>
                      </a:r>
                      <a:endParaRPr lang="it-IT" b="1" dirty="0">
                        <a:solidFill>
                          <a:schemeClr val="tx1"/>
                        </a:solidFill>
                        <a:effectLst/>
                        <a:latin typeface="Canva Sans"/>
                      </a:endParaRPr>
                    </a:p>
                  </a:txBody>
                  <a:tcPr marL="12700" marR="127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it-IT" b="1" dirty="0" err="1">
                          <a:solidFill>
                            <a:schemeClr val="tx1"/>
                          </a:solidFill>
                          <a:effectLst/>
                          <a:latin typeface="Canva Sans"/>
                        </a:rPr>
                        <a:t>Neurons</a:t>
                      </a:r>
                      <a:r>
                        <a:rPr lang="it-IT" b="1" dirty="0">
                          <a:solidFill>
                            <a:schemeClr val="tx1"/>
                          </a:solidFill>
                          <a:effectLst/>
                          <a:latin typeface="Canva Sans"/>
                        </a:rPr>
                        <a:t> </a:t>
                      </a:r>
                      <a:r>
                        <a:rPr lang="it-IT" b="1" dirty="0" err="1">
                          <a:solidFill>
                            <a:schemeClr val="tx1"/>
                          </a:solidFill>
                          <a:effectLst/>
                          <a:latin typeface="Canva Sans"/>
                        </a:rPr>
                        <a:t>Pruned</a:t>
                      </a:r>
                      <a:endParaRPr lang="it-IT" b="1" dirty="0">
                        <a:solidFill>
                          <a:schemeClr val="tx1"/>
                        </a:solidFill>
                        <a:effectLst/>
                        <a:latin typeface="Canva Sans"/>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it-IT" b="1" dirty="0" err="1">
                          <a:solidFill>
                            <a:schemeClr val="tx1"/>
                          </a:solidFill>
                          <a:effectLst/>
                          <a:latin typeface="Canva Sans"/>
                        </a:rPr>
                        <a:t>Clean</a:t>
                      </a:r>
                      <a:r>
                        <a:rPr lang="it-IT" b="1" dirty="0">
                          <a:solidFill>
                            <a:schemeClr val="tx1"/>
                          </a:solidFill>
                          <a:effectLst/>
                          <a:latin typeface="Canva Sans"/>
                        </a:rPr>
                        <a:t> Acc (</a:t>
                      </a:r>
                      <a:r>
                        <a:rPr lang="el-GR" b="1" dirty="0">
                          <a:solidFill>
                            <a:schemeClr val="tx1"/>
                          </a:solidFill>
                          <a:effectLst/>
                          <a:latin typeface="Canva Sans"/>
                        </a:rPr>
                        <a:t>α=0.15)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it-IT" b="1" dirty="0">
                          <a:solidFill>
                            <a:schemeClr val="tx1"/>
                          </a:solidFill>
                          <a:effectLst/>
                          <a:latin typeface="Canva Sans"/>
                        </a:rPr>
                        <a:t>ASR (</a:t>
                      </a:r>
                      <a:r>
                        <a:rPr lang="el-GR" b="1" dirty="0">
                          <a:solidFill>
                            <a:schemeClr val="tx1"/>
                          </a:solidFill>
                          <a:effectLst/>
                          <a:latin typeface="Canva Sans"/>
                        </a:rPr>
                        <a:t>α=0.15)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it-IT" b="1" dirty="0" err="1">
                          <a:solidFill>
                            <a:schemeClr val="tx1"/>
                          </a:solidFill>
                          <a:effectLst/>
                          <a:latin typeface="Canva Sans"/>
                        </a:rPr>
                        <a:t>Clean</a:t>
                      </a:r>
                      <a:r>
                        <a:rPr lang="it-IT" b="1" dirty="0">
                          <a:solidFill>
                            <a:schemeClr val="tx1"/>
                          </a:solidFill>
                          <a:effectLst/>
                          <a:latin typeface="Canva Sans"/>
                        </a:rPr>
                        <a:t> Acc (</a:t>
                      </a:r>
                      <a:r>
                        <a:rPr lang="el-GR" b="1" dirty="0">
                          <a:solidFill>
                            <a:schemeClr val="tx1"/>
                          </a:solidFill>
                          <a:effectLst/>
                          <a:latin typeface="Canva Sans"/>
                        </a:rPr>
                        <a:t>α=0.30)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it-IT" b="1" dirty="0">
                          <a:solidFill>
                            <a:schemeClr val="tx1"/>
                          </a:solidFill>
                          <a:effectLst/>
                          <a:latin typeface="Canva Sans"/>
                        </a:rPr>
                        <a:t>ASR (</a:t>
                      </a:r>
                      <a:r>
                        <a:rPr lang="el-GR" b="1" dirty="0">
                          <a:solidFill>
                            <a:schemeClr val="tx1"/>
                          </a:solidFill>
                          <a:effectLst/>
                          <a:latin typeface="Canva Sans"/>
                        </a:rPr>
                        <a:t>α=0.30)</a:t>
                      </a:r>
                    </a:p>
                  </a:txBody>
                  <a:tcPr marL="12700" marR="12700" marT="12700" marB="127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71897818"/>
                  </a:ext>
                </a:extLst>
              </a:tr>
              <a:tr h="370840">
                <a:tc>
                  <a:txBody>
                    <a:bodyPr/>
                    <a:lstStyle/>
                    <a:p>
                      <a:pPr>
                        <a:buNone/>
                      </a:pPr>
                      <a:r>
                        <a:rPr lang="it-IT" dirty="0">
                          <a:effectLst/>
                          <a:latin typeface="Canva Sans"/>
                        </a:rPr>
                        <a:t>0.00 (baseline)</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dirty="0">
                          <a:effectLst/>
                          <a:latin typeface="Canva Sans"/>
                        </a:rPr>
                        <a:t>0.9848</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0.8410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0.9767</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0.9287</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098587237"/>
                  </a:ext>
                </a:extLst>
              </a:tr>
              <a:tr h="370840">
                <a:tc>
                  <a:txBody>
                    <a:bodyPr/>
                    <a:lstStyle/>
                    <a:p>
                      <a:pPr>
                        <a:buNone/>
                      </a:pPr>
                      <a:r>
                        <a:rPr lang="it-IT">
                          <a:effectLst/>
                          <a:latin typeface="Canva Sans"/>
                        </a:rPr>
                        <a:t>0.05</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12</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0.9729</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0.2463</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0.9519</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0.2959</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068385493"/>
                  </a:ext>
                </a:extLst>
              </a:tr>
              <a:tr h="370840">
                <a:tc>
                  <a:txBody>
                    <a:bodyPr/>
                    <a:lstStyle/>
                    <a:p>
                      <a:pPr>
                        <a:buNone/>
                      </a:pPr>
                      <a:r>
                        <a:rPr lang="it-IT">
                          <a:effectLst/>
                          <a:latin typeface="Canva Sans"/>
                        </a:rPr>
                        <a:t>0.08</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20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0.9386</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0.0159</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0.9034</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0.0482</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440351975"/>
                  </a:ext>
                </a:extLst>
              </a:tr>
              <a:tr h="370840">
                <a:tc>
                  <a:txBody>
                    <a:bodyPr/>
                    <a:lstStyle/>
                    <a:p>
                      <a:pPr>
                        <a:buNone/>
                      </a:pPr>
                      <a:r>
                        <a:rPr lang="it-IT">
                          <a:effectLst/>
                          <a:latin typeface="Canva Sans"/>
                        </a:rPr>
                        <a:t>0.10</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25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0.9119</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0.0010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0.8396</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a:buNone/>
                      </a:pPr>
                      <a:r>
                        <a:rPr lang="it-IT">
                          <a:effectLst/>
                          <a:latin typeface="Canva Sans"/>
                        </a:rPr>
                        <a:t>0.0000</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1443166725"/>
                  </a:ext>
                </a:extLst>
              </a:tr>
              <a:tr h="370840">
                <a:tc>
                  <a:txBody>
                    <a:bodyPr/>
                    <a:lstStyle/>
                    <a:p>
                      <a:pPr>
                        <a:buNone/>
                      </a:pPr>
                      <a:r>
                        <a:rPr lang="it-IT">
                          <a:effectLst/>
                          <a:latin typeface="Canva Sans"/>
                        </a:rPr>
                        <a:t>0.15</a:t>
                      </a: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a:effectLst/>
                          <a:latin typeface="Canva Sans"/>
                        </a:rPr>
                        <a:t>38</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a:effectLst/>
                          <a:latin typeface="Canva Sans"/>
                        </a:rPr>
                        <a:t>0.8515</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a:effectLst/>
                          <a:latin typeface="Canva Sans"/>
                        </a:rPr>
                        <a:t>0.0000</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a:effectLst/>
                          <a:latin typeface="Canva Sans"/>
                        </a:rPr>
                        <a:t>0.7834</a:t>
                      </a: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a:buNone/>
                      </a:pPr>
                      <a:r>
                        <a:rPr lang="it-IT" dirty="0">
                          <a:effectLst/>
                          <a:latin typeface="Canva Sans"/>
                        </a:rPr>
                        <a:t>0.0000</a:t>
                      </a: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4ED"/>
                    </a:solidFill>
                  </a:tcPr>
                </a:tc>
                <a:extLst>
                  <a:ext uri="{0D108BD9-81ED-4DB2-BD59-A6C34878D82A}">
                    <a16:rowId xmlns:a16="http://schemas.microsoft.com/office/drawing/2014/main" val="2410431740"/>
                  </a:ext>
                </a:extLst>
              </a:tr>
            </a:tbl>
          </a:graphicData>
        </a:graphic>
      </p:graphicFrame>
      <p:sp>
        <p:nvSpPr>
          <p:cNvPr id="12" name="CasellaDiTesto 11">
            <a:extLst>
              <a:ext uri="{FF2B5EF4-FFF2-40B4-BE49-F238E27FC236}">
                <a16:creationId xmlns:a16="http://schemas.microsoft.com/office/drawing/2014/main" id="{BD8A6F5B-D26C-EB17-A078-58486528E511}"/>
              </a:ext>
            </a:extLst>
          </p:cNvPr>
          <p:cNvSpPr txBox="1"/>
          <p:nvPr/>
        </p:nvSpPr>
        <p:spPr>
          <a:xfrm>
            <a:off x="967900" y="3864803"/>
            <a:ext cx="9592734" cy="1754326"/>
          </a:xfrm>
          <a:prstGeom prst="rect">
            <a:avLst/>
          </a:prstGeom>
          <a:noFill/>
        </p:spPr>
        <p:txBody>
          <a:bodyPr wrap="square">
            <a:spAutoFit/>
          </a:bodyPr>
          <a:lstStyle/>
          <a:p>
            <a:pPr algn="just"/>
            <a:r>
              <a:rPr lang="en-US" b="1" dirty="0"/>
              <a:t>α=0.15 </a:t>
            </a:r>
            <a:r>
              <a:rPr lang="en-US" dirty="0"/>
              <a:t>optimal at </a:t>
            </a:r>
            <a:r>
              <a:rPr lang="en-US" b="1" dirty="0"/>
              <a:t>8% pruning</a:t>
            </a:r>
            <a:r>
              <a:rPr lang="en-US" dirty="0"/>
              <a:t>: ASR 84% : 1.6%, clean acc loss ~5%</a:t>
            </a:r>
          </a:p>
          <a:p>
            <a:r>
              <a:rPr lang="en-US" b="1" dirty="0"/>
              <a:t>α=0.30 </a:t>
            </a:r>
            <a:r>
              <a:rPr lang="en-US" dirty="0"/>
              <a:t>needs </a:t>
            </a:r>
            <a:r>
              <a:rPr lang="en-US" b="1" dirty="0"/>
              <a:t>10% pruning</a:t>
            </a:r>
            <a:r>
              <a:rPr lang="en-US" dirty="0"/>
              <a:t> to reach ASR=0.0%, clean acc drops to 83.9%</a:t>
            </a:r>
          </a:p>
          <a:p>
            <a:r>
              <a:rPr lang="en-US" b="1" dirty="0"/>
              <a:t>Takeaway</a:t>
            </a:r>
            <a:r>
              <a:rPr lang="en-US" dirty="0"/>
              <a:t> A stronger attack (higher α, higher initial ASR) requires more aggressive pruning with greater collateral damage on clean accuracy, but the defense remains effective in both cases. The backdoor signal is highly localized in the embedding layer regardless of attack strength.</a:t>
            </a:r>
          </a:p>
          <a:p>
            <a:r>
              <a:rPr lang="en-US" b="1" dirty="0"/>
              <a:t>Output</a:t>
            </a:r>
            <a:r>
              <a:rPr lang="en-US" dirty="0"/>
              <a:t> Tradeoff curves saved as pruning_tradeoff.png in each trial folder.</a:t>
            </a:r>
          </a:p>
        </p:txBody>
      </p:sp>
    </p:spTree>
    <p:extLst>
      <p:ext uri="{BB962C8B-B14F-4D97-AF65-F5344CB8AC3E}">
        <p14:creationId xmlns:p14="http://schemas.microsoft.com/office/powerpoint/2010/main" val="4293167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C871-53DF-8A93-6D96-716ED0BE106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EF4D77D3-49DC-449D-E785-47DA2C9B830F}"/>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5" name="CasellaDiTesto 4">
            <a:extLst>
              <a:ext uri="{FF2B5EF4-FFF2-40B4-BE49-F238E27FC236}">
                <a16:creationId xmlns:a16="http://schemas.microsoft.com/office/drawing/2014/main" id="{9B786360-4ACF-6590-F0F5-8383959E0550}"/>
              </a:ext>
            </a:extLst>
          </p:cNvPr>
          <p:cNvSpPr txBox="1"/>
          <p:nvPr/>
        </p:nvSpPr>
        <p:spPr>
          <a:xfrm>
            <a:off x="0" y="212892"/>
            <a:ext cx="5147734" cy="287899"/>
          </a:xfrm>
          <a:prstGeom prst="rect">
            <a:avLst/>
          </a:prstGeom>
          <a:noFill/>
        </p:spPr>
        <p:txBody>
          <a:bodyPr wrap="square">
            <a:spAutoFit/>
          </a:bodyPr>
          <a:lstStyle/>
          <a:p>
            <a:pPr algn="ctr">
              <a:lnSpc>
                <a:spcPts val="1425"/>
              </a:lnSpc>
              <a:buNone/>
            </a:pPr>
            <a:r>
              <a:rPr lang="en-US" b="1" dirty="0">
                <a:effectLst/>
                <a:latin typeface="Canva Sans"/>
              </a:rPr>
              <a:t>python train.py --attack ii --ii-n-poisons 50 --trials 2 </a:t>
            </a:r>
          </a:p>
        </p:txBody>
      </p:sp>
      <p:pic>
        <p:nvPicPr>
          <p:cNvPr id="14" name="Immagine 13">
            <a:extLst>
              <a:ext uri="{FF2B5EF4-FFF2-40B4-BE49-F238E27FC236}">
                <a16:creationId xmlns:a16="http://schemas.microsoft.com/office/drawing/2014/main" id="{6C64656B-98EF-76FB-ECE0-B0BAD92A5BB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3839" t="3364" r="28357" b="2809"/>
          <a:stretch>
            <a:fillRect/>
          </a:stretch>
        </p:blipFill>
        <p:spPr>
          <a:xfrm>
            <a:off x="579277" y="547638"/>
            <a:ext cx="3989180" cy="6264000"/>
          </a:xfrm>
          <a:prstGeom prst="rect">
            <a:avLst/>
          </a:prstGeom>
          <a:ln w="38100">
            <a:solidFill>
              <a:schemeClr val="bg2"/>
            </a:solidFill>
          </a:ln>
        </p:spPr>
      </p:pic>
      <p:pic>
        <p:nvPicPr>
          <p:cNvPr id="16" name="Immagine 15">
            <a:extLst>
              <a:ext uri="{FF2B5EF4-FFF2-40B4-BE49-F238E27FC236}">
                <a16:creationId xmlns:a16="http://schemas.microsoft.com/office/drawing/2014/main" id="{C1576510-7E55-07C7-E8FC-F33D51ED45DE}"/>
              </a:ext>
            </a:extLst>
          </p:cNvPr>
          <p:cNvPicPr>
            <a:picLocks noChangeAspect="1"/>
          </p:cNvPicPr>
          <p:nvPr/>
        </p:nvPicPr>
        <p:blipFill>
          <a:blip r:embed="rId5"/>
          <a:srcRect l="4196" t="3697" r="26630" b="3622"/>
          <a:stretch>
            <a:fillRect/>
          </a:stretch>
        </p:blipFill>
        <p:spPr>
          <a:xfrm>
            <a:off x="6881243" y="547638"/>
            <a:ext cx="4747763" cy="6264000"/>
          </a:xfrm>
          <a:prstGeom prst="rect">
            <a:avLst/>
          </a:prstGeom>
          <a:ln w="38100">
            <a:solidFill>
              <a:schemeClr val="bg2"/>
            </a:solidFill>
          </a:ln>
        </p:spPr>
      </p:pic>
      <p:sp>
        <p:nvSpPr>
          <p:cNvPr id="19" name="CasellaDiTesto 18">
            <a:extLst>
              <a:ext uri="{FF2B5EF4-FFF2-40B4-BE49-F238E27FC236}">
                <a16:creationId xmlns:a16="http://schemas.microsoft.com/office/drawing/2014/main" id="{D4962C88-C782-3758-C125-9AE9DC9353C9}"/>
              </a:ext>
            </a:extLst>
          </p:cNvPr>
          <p:cNvSpPr txBox="1"/>
          <p:nvPr/>
        </p:nvSpPr>
        <p:spPr>
          <a:xfrm>
            <a:off x="6773333" y="212892"/>
            <a:ext cx="4963583" cy="290208"/>
          </a:xfrm>
          <a:prstGeom prst="rect">
            <a:avLst/>
          </a:prstGeom>
          <a:noFill/>
        </p:spPr>
        <p:txBody>
          <a:bodyPr wrap="square">
            <a:spAutoFit/>
          </a:bodyPr>
          <a:lstStyle/>
          <a:p>
            <a:pPr>
              <a:lnSpc>
                <a:spcPts val="1425"/>
              </a:lnSpc>
            </a:pPr>
            <a:r>
              <a:rPr lang="en-US" b="1" dirty="0">
                <a:latin typeface="Canva Sans"/>
              </a:rPr>
              <a:t>python train.py --attack bp --alpha 0.15 --trials 2</a:t>
            </a:r>
          </a:p>
        </p:txBody>
      </p:sp>
    </p:spTree>
    <p:extLst>
      <p:ext uri="{BB962C8B-B14F-4D97-AF65-F5344CB8AC3E}">
        <p14:creationId xmlns:p14="http://schemas.microsoft.com/office/powerpoint/2010/main" val="1192402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5129155-673F-D71D-C75A-E720AA290016}"/>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sp>
        <p:nvSpPr>
          <p:cNvPr id="4" name="CasellaDiTesto 3">
            <a:extLst>
              <a:ext uri="{FF2B5EF4-FFF2-40B4-BE49-F238E27FC236}">
                <a16:creationId xmlns:a16="http://schemas.microsoft.com/office/drawing/2014/main" id="{252A75AA-1588-3405-AAD8-E722C2BD4026}"/>
              </a:ext>
            </a:extLst>
          </p:cNvPr>
          <p:cNvSpPr txBox="1"/>
          <p:nvPr/>
        </p:nvSpPr>
        <p:spPr>
          <a:xfrm>
            <a:off x="381002" y="1514649"/>
            <a:ext cx="5782733" cy="467436"/>
          </a:xfrm>
          <a:prstGeom prst="rect">
            <a:avLst/>
          </a:prstGeom>
          <a:noFill/>
        </p:spPr>
        <p:txBody>
          <a:bodyPr wrap="square">
            <a:spAutoFit/>
          </a:bodyPr>
          <a:lstStyle/>
          <a:p>
            <a:pPr>
              <a:lnSpc>
                <a:spcPts val="1425"/>
              </a:lnSpc>
            </a:pPr>
            <a:r>
              <a:rPr lang="en-US" b="1" dirty="0">
                <a:latin typeface="Canva Sans"/>
              </a:rPr>
              <a:t>python analysis_defense.py --model-path </a:t>
            </a:r>
          </a:p>
          <a:p>
            <a:pPr>
              <a:lnSpc>
                <a:spcPts val="1425"/>
              </a:lnSpc>
            </a:pPr>
            <a:r>
              <a:rPr lang="en-US" b="1" dirty="0">
                <a:latin typeface="Canva Sans"/>
              </a:rPr>
              <a:t>runs\2026-03-11_17-50-47\trial_02\model.pt --alpha 0.15</a:t>
            </a:r>
          </a:p>
        </p:txBody>
      </p:sp>
      <p:pic>
        <p:nvPicPr>
          <p:cNvPr id="6" name="Immagine 5">
            <a:extLst>
              <a:ext uri="{FF2B5EF4-FFF2-40B4-BE49-F238E27FC236}">
                <a16:creationId xmlns:a16="http://schemas.microsoft.com/office/drawing/2014/main" id="{9ACDA8A5-D604-B60D-19FD-26A1A3830C64}"/>
              </a:ext>
            </a:extLst>
          </p:cNvPr>
          <p:cNvPicPr>
            <a:picLocks noChangeAspect="1"/>
          </p:cNvPicPr>
          <p:nvPr/>
        </p:nvPicPr>
        <p:blipFill>
          <a:blip r:embed="rId3"/>
          <a:srcRect l="4167" t="7349" r="35903" b="8364"/>
          <a:stretch>
            <a:fillRect/>
          </a:stretch>
        </p:blipFill>
        <p:spPr>
          <a:xfrm>
            <a:off x="7182556" y="128367"/>
            <a:ext cx="4308350" cy="3240000"/>
          </a:xfrm>
          <a:prstGeom prst="rect">
            <a:avLst/>
          </a:prstGeom>
          <a:ln w="38100">
            <a:solidFill>
              <a:schemeClr val="bg2"/>
            </a:solidFill>
          </a:ln>
        </p:spPr>
      </p:pic>
      <p:sp>
        <p:nvSpPr>
          <p:cNvPr id="7" name="CasellaDiTesto 6">
            <a:extLst>
              <a:ext uri="{FF2B5EF4-FFF2-40B4-BE49-F238E27FC236}">
                <a16:creationId xmlns:a16="http://schemas.microsoft.com/office/drawing/2014/main" id="{3FE92836-DB71-58E8-747A-CC2CA6397F26}"/>
              </a:ext>
            </a:extLst>
          </p:cNvPr>
          <p:cNvSpPr txBox="1"/>
          <p:nvPr/>
        </p:nvSpPr>
        <p:spPr>
          <a:xfrm>
            <a:off x="381002" y="4633192"/>
            <a:ext cx="5714998" cy="467436"/>
          </a:xfrm>
          <a:prstGeom prst="rect">
            <a:avLst/>
          </a:prstGeom>
          <a:noFill/>
        </p:spPr>
        <p:txBody>
          <a:bodyPr wrap="square">
            <a:spAutoFit/>
          </a:bodyPr>
          <a:lstStyle/>
          <a:p>
            <a:pPr>
              <a:lnSpc>
                <a:spcPts val="1425"/>
              </a:lnSpc>
            </a:pPr>
            <a:r>
              <a:rPr lang="en-US" b="1" dirty="0">
                <a:latin typeface="Canva Sans"/>
              </a:rPr>
              <a:t>python analysis_defense.py --model-path </a:t>
            </a:r>
          </a:p>
          <a:p>
            <a:pPr>
              <a:lnSpc>
                <a:spcPts val="1425"/>
              </a:lnSpc>
            </a:pPr>
            <a:r>
              <a:rPr lang="en-US" b="1" dirty="0">
                <a:latin typeface="Canva Sans"/>
              </a:rPr>
              <a:t>runs\2026-03-11_17-59-15\trial_02\model.pt --alpha 0.30</a:t>
            </a:r>
          </a:p>
        </p:txBody>
      </p:sp>
      <p:pic>
        <p:nvPicPr>
          <p:cNvPr id="9" name="Immagine 8">
            <a:extLst>
              <a:ext uri="{FF2B5EF4-FFF2-40B4-BE49-F238E27FC236}">
                <a16:creationId xmlns:a16="http://schemas.microsoft.com/office/drawing/2014/main" id="{E51C3F27-02FC-A7BD-6A59-61E3365E9220}"/>
              </a:ext>
            </a:extLst>
          </p:cNvPr>
          <p:cNvPicPr>
            <a:picLocks noChangeAspect="1"/>
          </p:cNvPicPr>
          <p:nvPr/>
        </p:nvPicPr>
        <p:blipFill>
          <a:blip r:embed="rId4"/>
          <a:srcRect l="4483" t="7673" r="35204" b="8364"/>
          <a:stretch>
            <a:fillRect/>
          </a:stretch>
        </p:blipFill>
        <p:spPr>
          <a:xfrm>
            <a:off x="7182556" y="3496735"/>
            <a:ext cx="4309200" cy="3207787"/>
          </a:xfrm>
          <a:prstGeom prst="rect">
            <a:avLst/>
          </a:prstGeom>
          <a:ln w="38100">
            <a:solidFill>
              <a:schemeClr val="bg2"/>
            </a:solidFill>
          </a:ln>
        </p:spPr>
      </p:pic>
    </p:spTree>
    <p:extLst>
      <p:ext uri="{BB962C8B-B14F-4D97-AF65-F5344CB8AC3E}">
        <p14:creationId xmlns:p14="http://schemas.microsoft.com/office/powerpoint/2010/main" val="2924425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52B6FE5-DB35-B197-379C-93E9E8025CFD}"/>
              </a:ext>
            </a:extLst>
          </p:cNvPr>
          <p:cNvPicPr>
            <a:picLocks noGrp="1" noRot="1" noMove="1" noResize="1" noEditPoints="1" noAdjustHandles="1" noChangeArrowheads="1" noChangeShapeType="1" noCrop="1"/>
          </p:cNvPicPr>
          <p:nvPr/>
        </p:nvPicPr>
        <p:blipFill>
          <a:blip r:embed="rId2"/>
          <a:stretch>
            <a:fillRect/>
          </a:stretch>
        </p:blipFill>
        <p:spPr>
          <a:xfrm>
            <a:off x="8020" y="0"/>
            <a:ext cx="12183979" cy="6857330"/>
          </a:xfrm>
          <a:prstGeom prst="rect">
            <a:avLst/>
          </a:prstGeom>
        </p:spPr>
      </p:pic>
      <p:graphicFrame>
        <p:nvGraphicFramePr>
          <p:cNvPr id="5" name="Tabella 4">
            <a:extLst>
              <a:ext uri="{FF2B5EF4-FFF2-40B4-BE49-F238E27FC236}">
                <a16:creationId xmlns:a16="http://schemas.microsoft.com/office/drawing/2014/main" id="{A2933924-547D-700A-2CDB-5C2F00F3877F}"/>
              </a:ext>
            </a:extLst>
          </p:cNvPr>
          <p:cNvGraphicFramePr>
            <a:graphicFrameLocks noGrp="1"/>
          </p:cNvGraphicFramePr>
          <p:nvPr>
            <p:extLst>
              <p:ext uri="{D42A27DB-BD31-4B8C-83A1-F6EECF244321}">
                <p14:modId xmlns:p14="http://schemas.microsoft.com/office/powerpoint/2010/main" val="4241711826"/>
              </p:ext>
            </p:extLst>
          </p:nvPr>
        </p:nvGraphicFramePr>
        <p:xfrm>
          <a:off x="906048" y="434530"/>
          <a:ext cx="9293543" cy="4074160"/>
        </p:xfrm>
        <a:graphic>
          <a:graphicData uri="http://schemas.openxmlformats.org/drawingml/2006/table">
            <a:tbl>
              <a:tblPr firstRow="1" bandRow="1">
                <a:tableStyleId>{5C22544A-7EE6-4342-B048-85BDC9FD1C3A}</a:tableStyleId>
              </a:tblPr>
              <a:tblGrid>
                <a:gridCol w="1753616">
                  <a:extLst>
                    <a:ext uri="{9D8B030D-6E8A-4147-A177-3AD203B41FA5}">
                      <a16:colId xmlns:a16="http://schemas.microsoft.com/office/drawing/2014/main" val="639379199"/>
                    </a:ext>
                  </a:extLst>
                </a:gridCol>
                <a:gridCol w="3827971">
                  <a:extLst>
                    <a:ext uri="{9D8B030D-6E8A-4147-A177-3AD203B41FA5}">
                      <a16:colId xmlns:a16="http://schemas.microsoft.com/office/drawing/2014/main" val="3756486711"/>
                    </a:ext>
                  </a:extLst>
                </a:gridCol>
                <a:gridCol w="3711956">
                  <a:extLst>
                    <a:ext uri="{9D8B030D-6E8A-4147-A177-3AD203B41FA5}">
                      <a16:colId xmlns:a16="http://schemas.microsoft.com/office/drawing/2014/main" val="3605213331"/>
                    </a:ext>
                  </a:extLst>
                </a:gridCol>
              </a:tblGrid>
              <a:tr h="258136">
                <a:tc>
                  <a:txBody>
                    <a:bodyPr/>
                    <a:lstStyle/>
                    <a:p>
                      <a:pPr marL="0" algn="l" rtl="0" eaLnBrk="1" fontAlgn="ctr" latinLnBrk="0" hangingPunct="1">
                        <a:buNone/>
                      </a:pPr>
                      <a:r>
                        <a:rPr lang="it-IT" sz="1800" b="1" i="0" u="none" strike="noStrike" kern="1200" dirty="0" err="1">
                          <a:solidFill>
                            <a:schemeClr val="tx1"/>
                          </a:solidFill>
                          <a:effectLst/>
                          <a:latin typeface="Canva Sans"/>
                        </a:rPr>
                        <a:t>Aspect</a:t>
                      </a:r>
                      <a:endParaRPr lang="it-IT" sz="1800" b="0" i="0" u="none" strike="noStrike" dirty="0">
                        <a:solidFill>
                          <a:schemeClr val="tx1"/>
                        </a:solidFill>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marL="0" algn="l" rtl="0" eaLnBrk="1" fontAlgn="ctr" latinLnBrk="0" hangingPunct="1">
                        <a:buNone/>
                      </a:pPr>
                      <a:r>
                        <a:rPr lang="it-IT" sz="1800" b="1" i="0" u="none" strike="noStrike" kern="1200" dirty="0">
                          <a:solidFill>
                            <a:schemeClr val="tx1"/>
                          </a:solidFill>
                          <a:effectLst/>
                          <a:latin typeface="Canva Sans"/>
                        </a:rPr>
                        <a:t>Chen et al. (2017)</a:t>
                      </a:r>
                      <a:endParaRPr lang="it-IT" sz="1800" b="0" i="0" u="none" strike="noStrike" dirty="0">
                        <a:solidFill>
                          <a:schemeClr val="tx1"/>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solidFill>
                  </a:tcPr>
                </a:tc>
                <a:tc>
                  <a:txBody>
                    <a:bodyPr/>
                    <a:lstStyle/>
                    <a:p>
                      <a:pPr marL="0" algn="l" rtl="0" eaLnBrk="1" fontAlgn="ctr" latinLnBrk="0" hangingPunct="1">
                        <a:buNone/>
                      </a:pPr>
                      <a:r>
                        <a:rPr lang="it-IT" sz="1800" b="1" i="0" u="none" strike="noStrike" kern="1200" dirty="0" err="1">
                          <a:solidFill>
                            <a:schemeClr val="tx1"/>
                          </a:solidFill>
                          <a:effectLst/>
                          <a:latin typeface="Canva Sans"/>
                        </a:rPr>
                        <a:t>This</a:t>
                      </a:r>
                      <a:r>
                        <a:rPr lang="it-IT" sz="1800" b="1" i="0" u="none" strike="noStrike" kern="1200" dirty="0">
                          <a:solidFill>
                            <a:schemeClr val="tx1"/>
                          </a:solidFill>
                          <a:effectLst/>
                          <a:latin typeface="Canva Sans"/>
                        </a:rPr>
                        <a:t> project</a:t>
                      </a:r>
                      <a:endParaRPr lang="it-IT" sz="1800" b="0" i="0" u="none" strike="noStrike" dirty="0">
                        <a:solidFill>
                          <a:schemeClr val="tx1"/>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7185606"/>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Model</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DeepID, VGG-Face</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SimpleCNN (from scratch)</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836349226"/>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Dataset</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YouTube Faces, 1,595 identities</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YouTube Faces, 100 identities</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660352281"/>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Hardware</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GPU</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dirty="0">
                          <a:solidFill>
                            <a:srgbClr val="000000"/>
                          </a:solidFill>
                          <a:effectLst/>
                          <a:latin typeface="Canva Sans"/>
                        </a:rPr>
                        <a:t>CPU</a:t>
                      </a:r>
                      <a:endParaRPr lang="it-IT" sz="1800" b="0" i="0" u="none" strike="noStrike" dirty="0">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2949695331"/>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Poison rate (II)</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~0.2% of training set</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dirty="0">
                          <a:solidFill>
                            <a:srgbClr val="000000"/>
                          </a:solidFill>
                          <a:effectLst/>
                          <a:latin typeface="Canva Sans"/>
                        </a:rPr>
                        <a:t>0.03–0.27% (10–50 samples)</a:t>
                      </a:r>
                      <a:endParaRPr lang="it-IT" sz="1800" b="0" i="0" u="none" strike="noStrike" dirty="0">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2286640349"/>
                  </a:ext>
                </a:extLst>
              </a:tr>
              <a:tr h="370840">
                <a:tc>
                  <a:txBody>
                    <a:bodyPr/>
                    <a:lstStyle/>
                    <a:p>
                      <a:pPr marL="0" algn="l" rtl="0" eaLnBrk="1" fontAlgn="ctr" latinLnBrk="0" hangingPunct="1">
                        <a:buNone/>
                      </a:pPr>
                      <a:r>
                        <a:rPr lang="it-IT" sz="1800" b="1" i="0" u="none" strike="noStrike" kern="1200" dirty="0">
                          <a:solidFill>
                            <a:srgbClr val="000000"/>
                          </a:solidFill>
                          <a:effectLst/>
                          <a:latin typeface="Canva Sans"/>
                        </a:rPr>
                        <a:t>Poison rate (BP)</a:t>
                      </a:r>
                      <a:endParaRPr lang="it-IT" sz="1800" b="0" i="0" u="none" strike="noStrike" dirty="0">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~5% of training set</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~5.4% (1,000 samples)</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293060947"/>
                  </a:ext>
                </a:extLst>
              </a:tr>
              <a:tr h="370840">
                <a:tc>
                  <a:txBody>
                    <a:bodyPr/>
                    <a:lstStyle/>
                    <a:p>
                      <a:pPr marL="0" algn="l" rtl="0" eaLnBrk="1" fontAlgn="ctr" latinLnBrk="0" hangingPunct="1">
                        <a:buNone/>
                      </a:pPr>
                      <a:r>
                        <a:rPr lang="it-IT" sz="1800" b="1" i="0" u="none" strike="noStrike" kern="1200" dirty="0">
                          <a:solidFill>
                            <a:srgbClr val="000000"/>
                          </a:solidFill>
                          <a:effectLst/>
                          <a:latin typeface="Canva Sans"/>
                        </a:rPr>
                        <a:t>Defense</a:t>
                      </a:r>
                      <a:endParaRPr lang="it-IT" sz="1800" b="0" i="0" u="none" strike="noStrike" dirty="0">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da-DK" sz="1800" b="0" i="0" u="none" strike="noStrike" kern="1200">
                          <a:solidFill>
                            <a:srgbClr val="000000"/>
                          </a:solidFill>
                          <a:effectLst/>
                          <a:latin typeface="Canva Sans"/>
                        </a:rPr>
                        <a:t>Fine-Pruning (Liu et al., 2018)</a:t>
                      </a:r>
                      <a:endParaRPr lang="da-DK"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en-US" sz="1800" b="0" i="0" u="none" strike="noStrike" kern="1200">
                          <a:solidFill>
                            <a:srgbClr val="000000"/>
                          </a:solidFill>
                          <a:effectLst/>
                          <a:latin typeface="Canva Sans"/>
                        </a:rPr>
                        <a:t>Applied to fc1 (256 neurons)</a:t>
                      </a:r>
                      <a:endParaRPr lang="en-US"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303057087"/>
                  </a:ext>
                </a:extLst>
              </a:tr>
              <a:tr h="370840">
                <a:tc>
                  <a:txBody>
                    <a:bodyPr/>
                    <a:lstStyle/>
                    <a:p>
                      <a:pPr marL="0" algn="l" rtl="0" eaLnBrk="1" fontAlgn="ctr" latinLnBrk="0" hangingPunct="1">
                        <a:buNone/>
                      </a:pPr>
                      <a:r>
                        <a:rPr lang="it-IT" sz="1800" b="1" i="0" u="none" strike="noStrike" kern="1200" dirty="0">
                          <a:solidFill>
                            <a:srgbClr val="000000"/>
                          </a:solidFill>
                          <a:effectLst/>
                          <a:latin typeface="Canva Sans"/>
                        </a:rPr>
                        <a:t>Attack </a:t>
                      </a:r>
                      <a:r>
                        <a:rPr lang="it-IT" sz="1800" b="1" i="0" u="none" strike="noStrike" kern="1200" dirty="0" err="1">
                          <a:solidFill>
                            <a:srgbClr val="000000"/>
                          </a:solidFill>
                          <a:effectLst/>
                          <a:latin typeface="Canva Sans"/>
                        </a:rPr>
                        <a:t>types</a:t>
                      </a:r>
                      <a:endParaRPr lang="it-IT" sz="1800" b="0" i="0" u="none" strike="noStrike" dirty="0">
                        <a:effectLst/>
                        <a:latin typeface="Arial" panose="020B0604020202020204" pitchFamily="34" charset="0"/>
                      </a:endParaRPr>
                    </a:p>
                  </a:txBody>
                  <a:tcPr marL="12700" marR="127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Input-Instance-Key, Blended Pattern-Key</a:t>
                      </a:r>
                      <a:endParaRPr lang="it-IT" sz="1800" b="0" i="0" u="none" strike="noStrike">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dirty="0" err="1">
                          <a:solidFill>
                            <a:srgbClr val="000000"/>
                          </a:solidFill>
                          <a:effectLst/>
                          <a:latin typeface="Canva Sans"/>
                        </a:rPr>
                        <a:t>Both</a:t>
                      </a:r>
                      <a:r>
                        <a:rPr lang="it-IT" sz="1800" b="0" i="0" u="none" strike="noStrike" kern="1200" dirty="0">
                          <a:solidFill>
                            <a:srgbClr val="000000"/>
                          </a:solidFill>
                          <a:effectLst/>
                          <a:latin typeface="Canva Sans"/>
                        </a:rPr>
                        <a:t> </a:t>
                      </a:r>
                      <a:r>
                        <a:rPr lang="it-IT" sz="1800" b="0" i="0" u="none" strike="noStrike" kern="1200" dirty="0" err="1">
                          <a:solidFill>
                            <a:srgbClr val="000000"/>
                          </a:solidFill>
                          <a:effectLst/>
                          <a:latin typeface="Canva Sans"/>
                        </a:rPr>
                        <a:t>reproduced</a:t>
                      </a:r>
                      <a:endParaRPr lang="it-IT" sz="1800" b="0" i="0" u="none" strike="noStrike" dirty="0">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2235223834"/>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II attack ASR</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Perfect with minimal poisoning</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dirty="0">
                          <a:solidFill>
                            <a:srgbClr val="000000"/>
                          </a:solidFill>
                          <a:effectLst/>
                          <a:latin typeface="Canva Sans"/>
                        </a:rPr>
                        <a:t>10 </a:t>
                      </a:r>
                      <a:r>
                        <a:rPr lang="it-IT" sz="1800" b="0" i="0" u="none" strike="noStrike" kern="1200" dirty="0" err="1">
                          <a:solidFill>
                            <a:srgbClr val="000000"/>
                          </a:solidFill>
                          <a:effectLst/>
                          <a:latin typeface="Canva Sans"/>
                        </a:rPr>
                        <a:t>poisons</a:t>
                      </a:r>
                      <a:r>
                        <a:rPr lang="it-IT" sz="1800" b="0" i="0" u="none" strike="noStrike" kern="1200" dirty="0">
                          <a:solidFill>
                            <a:srgbClr val="000000"/>
                          </a:solidFill>
                          <a:effectLst/>
                          <a:latin typeface="Canva Sans"/>
                        </a:rPr>
                        <a:t> : ASR = 1.0 </a:t>
                      </a:r>
                      <a:endParaRPr lang="it-IT" sz="1800" b="0" i="0" u="none" strike="noStrike" dirty="0">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2722301779"/>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BP attack ASR</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Scales with </a:t>
                      </a:r>
                      <a:r>
                        <a:rPr lang="el-GR" sz="1800" b="0" i="0" u="none" strike="noStrike" kern="1200">
                          <a:solidFill>
                            <a:srgbClr val="000000"/>
                          </a:solidFill>
                          <a:effectLst/>
                          <a:latin typeface="Canva Sans"/>
                        </a:rPr>
                        <a:t>α</a:t>
                      </a:r>
                      <a:endParaRPr lang="el-GR"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tc>
                  <a:txBody>
                    <a:bodyPr/>
                    <a:lstStyle/>
                    <a:p>
                      <a:pPr marL="0" algn="l" rtl="0" eaLnBrk="1" fontAlgn="ctr" latinLnBrk="0" hangingPunct="1">
                        <a:buNone/>
                      </a:pPr>
                      <a:r>
                        <a:rPr lang="fr-FR" sz="1800" b="0" i="0" u="none" strike="noStrike" kern="1200" dirty="0">
                          <a:solidFill>
                            <a:srgbClr val="000000"/>
                          </a:solidFill>
                          <a:effectLst/>
                          <a:latin typeface="Canva Sans"/>
                        </a:rPr>
                        <a:t>α 0.15:0.30 </a:t>
                      </a:r>
                      <a:r>
                        <a:rPr lang="fr-FR" sz="1800" b="0" i="0" u="none" strike="noStrike" kern="1200" dirty="0" err="1">
                          <a:solidFill>
                            <a:srgbClr val="000000"/>
                          </a:solidFill>
                          <a:effectLst/>
                          <a:latin typeface="Canva Sans"/>
                        </a:rPr>
                        <a:t>raises</a:t>
                      </a:r>
                      <a:r>
                        <a:rPr lang="fr-FR" sz="1800" b="0" i="0" u="none" strike="noStrike" kern="1200" dirty="0">
                          <a:solidFill>
                            <a:srgbClr val="000000"/>
                          </a:solidFill>
                          <a:effectLst/>
                          <a:latin typeface="Canva Sans"/>
                        </a:rPr>
                        <a:t> ASR 79%:93% </a:t>
                      </a:r>
                      <a:endParaRPr lang="fr-FR" sz="1800" b="0" i="0" u="none" strike="noStrike" dirty="0">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4ED"/>
                    </a:solidFill>
                  </a:tcPr>
                </a:tc>
                <a:extLst>
                  <a:ext uri="{0D108BD9-81ED-4DB2-BD59-A6C34878D82A}">
                    <a16:rowId xmlns:a16="http://schemas.microsoft.com/office/drawing/2014/main" val="3374987320"/>
                  </a:ext>
                </a:extLst>
              </a:tr>
              <a:tr h="370840">
                <a:tc>
                  <a:txBody>
                    <a:bodyPr/>
                    <a:lstStyle/>
                    <a:p>
                      <a:pPr marL="0" algn="l" rtl="0" eaLnBrk="1" fontAlgn="ctr" latinLnBrk="0" hangingPunct="1">
                        <a:buNone/>
                      </a:pPr>
                      <a:r>
                        <a:rPr lang="it-IT" sz="1800" b="1" i="0" u="none" strike="noStrike" kern="1200">
                          <a:solidFill>
                            <a:srgbClr val="000000"/>
                          </a:solidFill>
                          <a:effectLst/>
                          <a:latin typeface="Canva Sans"/>
                        </a:rPr>
                        <a:t>Fine-Pruning</a:t>
                      </a:r>
                      <a:endParaRPr lang="it-IT" sz="1800" b="0" i="0" u="none" strike="noStrike">
                        <a:effectLst/>
                        <a:latin typeface="Arial" panose="020B0604020202020204" pitchFamily="34"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marL="0" algn="l" rtl="0" eaLnBrk="1" fontAlgn="ctr" latinLnBrk="0" hangingPunct="1">
                        <a:buNone/>
                      </a:pPr>
                      <a:r>
                        <a:rPr lang="it-IT" sz="1800" b="0" i="0" u="none" strike="noStrike" kern="1200">
                          <a:solidFill>
                            <a:srgbClr val="000000"/>
                          </a:solidFill>
                          <a:effectLst/>
                          <a:latin typeface="Canva Sans"/>
                        </a:rPr>
                        <a:t>Backdoor localized in embedding</a:t>
                      </a:r>
                      <a:endParaRPr lang="it-IT" sz="1800" b="0" i="0" u="none" strike="noStrike">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5F4ED"/>
                    </a:solidFill>
                  </a:tcPr>
                </a:tc>
                <a:tc>
                  <a:txBody>
                    <a:bodyPr/>
                    <a:lstStyle/>
                    <a:p>
                      <a:pPr marL="0" algn="l" rtl="0" eaLnBrk="1" fontAlgn="ctr" latinLnBrk="0" hangingPunct="1">
                        <a:buNone/>
                      </a:pPr>
                      <a:r>
                        <a:rPr lang="it-IT" sz="1800" b="0" i="0" u="none" strike="noStrike" kern="1200" dirty="0">
                          <a:solidFill>
                            <a:srgbClr val="000000"/>
                          </a:solidFill>
                          <a:effectLst/>
                          <a:latin typeface="Canva Sans"/>
                        </a:rPr>
                        <a:t>12–25 / 256 </a:t>
                      </a:r>
                      <a:r>
                        <a:rPr lang="it-IT" sz="1800" b="0" i="0" u="none" strike="noStrike" kern="1200" dirty="0" err="1">
                          <a:solidFill>
                            <a:srgbClr val="000000"/>
                          </a:solidFill>
                          <a:effectLst/>
                          <a:latin typeface="Canva Sans"/>
                        </a:rPr>
                        <a:t>neurons</a:t>
                      </a:r>
                      <a:r>
                        <a:rPr lang="it-IT" sz="1800" b="0" i="0" u="none" strike="noStrike" kern="1200" dirty="0">
                          <a:solidFill>
                            <a:srgbClr val="000000"/>
                          </a:solidFill>
                          <a:effectLst/>
                          <a:latin typeface="Canva Sans"/>
                        </a:rPr>
                        <a:t> </a:t>
                      </a:r>
                      <a:r>
                        <a:rPr lang="it-IT" sz="1800" b="0" i="0" u="none" strike="noStrike" kern="1200" dirty="0" err="1">
                          <a:solidFill>
                            <a:srgbClr val="000000"/>
                          </a:solidFill>
                          <a:effectLst/>
                          <a:latin typeface="Canva Sans"/>
                        </a:rPr>
                        <a:t>sufficient</a:t>
                      </a:r>
                      <a:r>
                        <a:rPr lang="it-IT" sz="1800" b="0" i="0" u="none" strike="noStrike" kern="1200" dirty="0">
                          <a:solidFill>
                            <a:srgbClr val="000000"/>
                          </a:solidFill>
                          <a:effectLst/>
                          <a:latin typeface="Canva Sans"/>
                        </a:rPr>
                        <a:t> </a:t>
                      </a:r>
                      <a:endParaRPr lang="it-IT" sz="1800" b="0" i="0" u="none" strike="noStrike" dirty="0">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5F4ED"/>
                    </a:solidFill>
                  </a:tcPr>
                </a:tc>
                <a:extLst>
                  <a:ext uri="{0D108BD9-81ED-4DB2-BD59-A6C34878D82A}">
                    <a16:rowId xmlns:a16="http://schemas.microsoft.com/office/drawing/2014/main" val="953646485"/>
                  </a:ext>
                </a:extLst>
              </a:tr>
            </a:tbl>
          </a:graphicData>
        </a:graphic>
      </p:graphicFrame>
      <p:sp>
        <p:nvSpPr>
          <p:cNvPr id="4" name="CasellaDiTesto 3">
            <a:extLst>
              <a:ext uri="{FF2B5EF4-FFF2-40B4-BE49-F238E27FC236}">
                <a16:creationId xmlns:a16="http://schemas.microsoft.com/office/drawing/2014/main" id="{27A492BD-8439-91A2-26E2-6801F0BA9619}"/>
              </a:ext>
            </a:extLst>
          </p:cNvPr>
          <p:cNvSpPr txBox="1"/>
          <p:nvPr/>
        </p:nvSpPr>
        <p:spPr>
          <a:xfrm>
            <a:off x="488482" y="5043440"/>
            <a:ext cx="10830827" cy="1200329"/>
          </a:xfrm>
          <a:prstGeom prst="rect">
            <a:avLst/>
          </a:prstGeom>
          <a:noFill/>
        </p:spPr>
        <p:txBody>
          <a:bodyPr wrap="square">
            <a:spAutoFit/>
          </a:bodyPr>
          <a:lstStyle/>
          <a:p>
            <a:pPr>
              <a:buNone/>
            </a:pPr>
            <a:r>
              <a:rPr lang="it-IT" b="1" dirty="0" err="1"/>
              <a:t>Preserved</a:t>
            </a:r>
            <a:r>
              <a:rPr lang="it-IT" b="1" dirty="0"/>
              <a:t>:</a:t>
            </a:r>
            <a:r>
              <a:rPr lang="it-IT" dirty="0"/>
              <a:t> </a:t>
            </a:r>
            <a:r>
              <a:rPr lang="it-IT" dirty="0" err="1"/>
              <a:t>architectural</a:t>
            </a:r>
            <a:r>
              <a:rPr lang="it-IT" dirty="0"/>
              <a:t> pattern (</a:t>
            </a:r>
            <a:r>
              <a:rPr lang="it-IT" dirty="0" err="1"/>
              <a:t>conv</a:t>
            </a:r>
            <a:r>
              <a:rPr lang="it-IT" dirty="0"/>
              <a:t> + </a:t>
            </a:r>
            <a:r>
              <a:rPr lang="it-IT" dirty="0" err="1"/>
              <a:t>embedding</a:t>
            </a:r>
            <a:r>
              <a:rPr lang="it-IT" dirty="0"/>
              <a:t> FC), black-box </a:t>
            </a:r>
            <a:r>
              <a:rPr lang="it-IT" dirty="0" err="1"/>
              <a:t>threat</a:t>
            </a:r>
            <a:r>
              <a:rPr lang="it-IT" dirty="0"/>
              <a:t> model, </a:t>
            </a:r>
            <a:r>
              <a:rPr lang="it-IT" dirty="0" err="1"/>
              <a:t>both</a:t>
            </a:r>
            <a:r>
              <a:rPr lang="it-IT" dirty="0"/>
              <a:t> trigger strategies, Fine-</a:t>
            </a:r>
            <a:r>
              <a:rPr lang="it-IT" dirty="0" err="1"/>
              <a:t>Pruning</a:t>
            </a:r>
            <a:r>
              <a:rPr lang="it-IT" dirty="0"/>
              <a:t> defense </a:t>
            </a:r>
            <a:r>
              <a:rPr lang="it-IT" dirty="0" err="1"/>
              <a:t>logic</a:t>
            </a:r>
            <a:r>
              <a:rPr lang="it-IT" dirty="0"/>
              <a:t>.</a:t>
            </a:r>
          </a:p>
          <a:p>
            <a:pPr>
              <a:buNone/>
            </a:pPr>
            <a:r>
              <a:rPr lang="it-IT" b="1" dirty="0" err="1"/>
              <a:t>Adapted</a:t>
            </a:r>
            <a:r>
              <a:rPr lang="it-IT" b="1" dirty="0"/>
              <a:t>:</a:t>
            </a:r>
            <a:r>
              <a:rPr lang="it-IT" dirty="0"/>
              <a:t> </a:t>
            </a:r>
            <a:r>
              <a:rPr lang="it-IT" dirty="0" err="1"/>
              <a:t>SimpleCNN</a:t>
            </a:r>
            <a:r>
              <a:rPr lang="it-IT" dirty="0"/>
              <a:t> </a:t>
            </a:r>
            <a:r>
              <a:rPr lang="it-IT" dirty="0" err="1"/>
              <a:t>replaces</a:t>
            </a:r>
            <a:r>
              <a:rPr lang="it-IT" dirty="0"/>
              <a:t> </a:t>
            </a:r>
            <a:r>
              <a:rPr lang="it-IT" dirty="0" err="1"/>
              <a:t>pretrained</a:t>
            </a:r>
            <a:r>
              <a:rPr lang="it-IT" dirty="0"/>
              <a:t> networks (CPU-</a:t>
            </a:r>
            <a:r>
              <a:rPr lang="it-IT" dirty="0" err="1"/>
              <a:t>feasible</a:t>
            </a:r>
            <a:r>
              <a:rPr lang="it-IT" dirty="0"/>
              <a:t>, </a:t>
            </a:r>
            <a:r>
              <a:rPr lang="it-IT" dirty="0" err="1"/>
              <a:t>structurally</a:t>
            </a:r>
            <a:r>
              <a:rPr lang="it-IT" dirty="0"/>
              <a:t> </a:t>
            </a:r>
            <a:r>
              <a:rPr lang="it-IT" dirty="0" err="1"/>
              <a:t>equivalent</a:t>
            </a:r>
            <a:r>
              <a:rPr lang="it-IT" dirty="0"/>
              <a:t>); 100 </a:t>
            </a:r>
            <a:r>
              <a:rPr lang="it-IT" dirty="0" err="1"/>
              <a:t>identities</a:t>
            </a:r>
            <a:r>
              <a:rPr lang="it-IT" dirty="0"/>
              <a:t> </a:t>
            </a:r>
            <a:r>
              <a:rPr lang="it-IT" dirty="0" err="1"/>
              <a:t>instead</a:t>
            </a:r>
            <a:r>
              <a:rPr lang="it-IT" dirty="0"/>
              <a:t> of 1,595; defense </a:t>
            </a:r>
            <a:r>
              <a:rPr lang="it-IT" dirty="0" err="1"/>
              <a:t>applied</a:t>
            </a:r>
            <a:r>
              <a:rPr lang="it-IT" dirty="0"/>
              <a:t> to BP </a:t>
            </a:r>
            <a:r>
              <a:rPr lang="it-IT" dirty="0" err="1"/>
              <a:t>only</a:t>
            </a:r>
            <a:r>
              <a:rPr lang="it-IT" dirty="0"/>
              <a:t>, II </a:t>
            </a:r>
            <a:r>
              <a:rPr lang="it-IT" dirty="0" err="1"/>
              <a:t>leaves</a:t>
            </a:r>
            <a:r>
              <a:rPr lang="it-IT" dirty="0"/>
              <a:t> no </a:t>
            </a:r>
            <a:r>
              <a:rPr lang="it-IT" dirty="0" err="1"/>
              <a:t>measurable</a:t>
            </a:r>
            <a:r>
              <a:rPr lang="it-IT" dirty="0"/>
              <a:t> backdoor in </a:t>
            </a:r>
            <a:r>
              <a:rPr lang="it-IT" dirty="0">
                <a:latin typeface="Courier New" panose="02070309020205020404" pitchFamily="49" charset="0"/>
              </a:rPr>
              <a:t>fc1</a:t>
            </a:r>
            <a:r>
              <a:rPr lang="it-IT" dirty="0"/>
              <a:t> post-</a:t>
            </a:r>
            <a:r>
              <a:rPr lang="it-IT" dirty="0" err="1"/>
              <a:t>pruning</a:t>
            </a:r>
            <a:r>
              <a:rPr lang="it-IT" dirty="0"/>
              <a:t>.</a:t>
            </a:r>
          </a:p>
        </p:txBody>
      </p:sp>
    </p:spTree>
    <p:extLst>
      <p:ext uri="{BB962C8B-B14F-4D97-AF65-F5344CB8AC3E}">
        <p14:creationId xmlns:p14="http://schemas.microsoft.com/office/powerpoint/2010/main" val="125553878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814</TotalTime>
  <Words>2421</Words>
  <Application>Microsoft Office PowerPoint</Application>
  <PresentationFormat>Widescreen</PresentationFormat>
  <Paragraphs>314</Paragraphs>
  <Slides>15</Slides>
  <Notes>6</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15</vt:i4>
      </vt:variant>
    </vt:vector>
  </HeadingPairs>
  <TitlesOfParts>
    <vt:vector size="23" baseType="lpstr">
      <vt:lpstr>Aptos</vt:lpstr>
      <vt:lpstr>Aptos Display</vt:lpstr>
      <vt:lpstr>Arial</vt:lpstr>
      <vt:lpstr>Cambria Math</vt:lpstr>
      <vt:lpstr>Canva Sans</vt:lpstr>
      <vt:lpstr>Canva Sans Bold</vt:lpstr>
      <vt:lpstr>Courier New</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EUGENIO COSIMI</dc:creator>
  <cp:lastModifiedBy>EUGENIO COSIMI</cp:lastModifiedBy>
  <cp:revision>23</cp:revision>
  <dcterms:created xsi:type="dcterms:W3CDTF">2026-03-12T11:02:32Z</dcterms:created>
  <dcterms:modified xsi:type="dcterms:W3CDTF">2026-03-30T14:40:53Z</dcterms:modified>
</cp:coreProperties>
</file>